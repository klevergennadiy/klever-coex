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1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Шаблоны" id="{4a6e1180-b5e8-92fa-b7e4-101ebd442e5f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Школ</c:v>
                </c:pt>
              </c:strCache>
            </c:strRef>
          </c:tx>
          <c:spPr>
            <a:solidFill>
              <a:srgbClr val="BFB7B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C1C1C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FB7B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FB7B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FB7B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BFB7B2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BFB7B2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FF4119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Новосибирская обл.</c:v>
                  </c:pt>
                  <c:pt idx="1">
                    <c:v>Свердловская обл.</c:v>
                  </c:pt>
                  <c:pt idx="2">
                    <c:v>Пермский край</c:v>
                  </c:pt>
                  <c:pt idx="3">
                    <c:v>Московская обл.</c:v>
                  </c:pt>
                  <c:pt idx="4">
                    <c:v>Татарстан</c:v>
                  </c:pt>
                  <c:pt idx="5">
                    <c:v>Москва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61</c:v>
                </c:pt>
                <c:pt idx="1">
                  <c:v>84</c:v>
                </c:pt>
                <c:pt idx="2">
                  <c:v>96</c:v>
                </c:pt>
                <c:pt idx="3">
                  <c:v>120</c:v>
                </c:pt>
                <c:pt idx="4">
                  <c:v>142</c:v>
                </c:pt>
                <c:pt idx="5">
                  <c:v>180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C1C1C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C1C1C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C_COOL">
    <p:bg>
      <p:bgPr>
        <a:solidFill>
          <a:srgbClr val="F1EE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u-horizontal-carbon-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00" y="546100"/>
            <a:ext cx="793496" cy="279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0" y="6350000"/>
            <a:ext cx="254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706965"/>
                </a:solidFill>
                <a:latin typeface="Inter Display Medium" pitchFamily="34" charset="0"/>
                <a:ea typeface="Inter Display Medium" pitchFamily="34" charset="-122"/>
                <a:cs typeface="Inter Display Medium" pitchFamily="34" charset="-120"/>
              </a:rPr>
              <a:t>klevercoex.ru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08000" y="6350000"/>
            <a:ext cx="12700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b"/>
          <a:lstStyle>
            <a:lvl1pPr>
              <a:defRPr sz="900">
                <a:solidFill>
                  <a:srgbClr val="706965"/>
                </a:solidFill>
                <a:latin typeface="Inter Display Medium"/>
                <a:ea typeface="Inter Display Medium"/>
                <a:cs typeface="Inter Display Medium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C_WHIT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u-horizontal-carbon-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00" y="546100"/>
            <a:ext cx="793496" cy="279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0" y="6350000"/>
            <a:ext cx="254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706965"/>
                </a:solidFill>
                <a:latin typeface="Inter Display Medium" pitchFamily="34" charset="0"/>
                <a:ea typeface="Inter Display Medium" pitchFamily="34" charset="-122"/>
                <a:cs typeface="Inter Display Medium" pitchFamily="34" charset="-120"/>
              </a:rPr>
              <a:t>klevercoex.ru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08000" y="6350000"/>
            <a:ext cx="12700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b"/>
          <a:lstStyle>
            <a:lvl1pPr>
              <a:defRPr sz="900">
                <a:solidFill>
                  <a:srgbClr val="706965"/>
                </a:solidFill>
                <a:latin typeface="Inter Display Medium"/>
                <a:ea typeface="Inter Display Medium"/>
                <a:cs typeface="Inter Display Medium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C_CARBON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u-horizontal-white-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00" y="546100"/>
            <a:ext cx="793496" cy="279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0" y="6350000"/>
            <a:ext cx="254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49C97"/>
                </a:solidFill>
                <a:latin typeface="Inter Display Medium" pitchFamily="34" charset="0"/>
                <a:ea typeface="Inter Display Medium" pitchFamily="34" charset="-122"/>
                <a:cs typeface="Inter Display Medium" pitchFamily="34" charset="-120"/>
              </a:rPr>
              <a:t>klevercoex.ru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08000" y="6350000"/>
            <a:ext cx="12700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b"/>
          <a:lstStyle>
            <a:lvl1pPr>
              <a:defRPr sz="900">
                <a:solidFill>
                  <a:srgbClr val="A49C97"/>
                </a:solidFill>
                <a:latin typeface="Inter Display Medium"/>
                <a:ea typeface="Inter Display Medium"/>
                <a:cs typeface="Inter Display Medium"/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C_ORANGE">
    <p:bg>
      <p:bgPr>
        <a:solidFill>
          <a:srgbClr val="FF41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u-horizontal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00" y="546100"/>
            <a:ext cx="793496" cy="279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0" y="6350000"/>
            <a:ext cx="254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1C1C1C"/>
                </a:solidFill>
                <a:latin typeface="Inter Display Medium" pitchFamily="34" charset="0"/>
                <a:ea typeface="Inter Display Medium" pitchFamily="34" charset="-122"/>
                <a:cs typeface="Inter Display Medium" pitchFamily="34" charset="-120"/>
              </a:rPr>
              <a:t>klevercoex.ru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08000" y="6350000"/>
            <a:ext cx="12700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b"/>
          <a:lstStyle>
            <a:lvl1pPr>
              <a:defRPr sz="900">
                <a:solidFill>
                  <a:srgbClr val="1C1C1C"/>
                </a:solidFill>
                <a:latin typeface="Inter Display Medium"/>
                <a:ea typeface="Inter Display Medium"/>
                <a:cs typeface="Inter Display Medium"/>
              </a:defRPr>
            </a:lvl1pPr>
          </a:lstStyle>
          <a:p>
            <a:pPr algn="l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08000" y="6350000"/>
            <a:ext cx="12700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b"/>
          <a:lstStyle>
            <a:lvl1pPr>
              <a:defRPr sz="900">
                <a:solidFill>
                  <a:srgbClr val="706965"/>
                </a:solidFill>
                <a:latin typeface="Inter Display Medium"/>
                <a:ea typeface="Inter Display Medium"/>
                <a:cs typeface="Inter Display Medium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image" Target="../media/image-18-2.jpg"/><Relationship Id="rId3" Type="http://schemas.openxmlformats.org/officeDocument/2006/relationships/image" Target="../media/image-18-3.jpg"/><Relationship Id="rId4" Type="http://schemas.openxmlformats.org/officeDocument/2006/relationships/image" Target="../media/image-18-4.jp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874000" y="596900"/>
            <a:ext cx="381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706965"/>
                </a:solidFill>
                <a:latin typeface="Inter Display Medium" pitchFamily="34" charset="0"/>
                <a:ea typeface="Inter Display Medium" pitchFamily="34" charset="-122"/>
                <a:cs typeface="Inter Display Medium" pitchFamily="34" charset="-120"/>
              </a:rPr>
              <a:t>Презентация для образовательных организаций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08000" y="3556000"/>
            <a:ext cx="6455833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92000"/>
              </a:lnSpc>
              <a:buNone/>
            </a:pPr>
            <a:r>
              <a:rPr lang="en-US" sz="5600" spc="-150" kern="0" dirty="0">
                <a:solidFill>
                  <a:srgbClr val="1C1C1C"/>
                </a:solidFill>
                <a:latin typeface="Inter Display Light" pitchFamily="34" charset="0"/>
                <a:ea typeface="Inter Display Light" pitchFamily="34" charset="-122"/>
                <a:cs typeface="Inter Display Light" pitchFamily="34" charset="-120"/>
              </a:rPr>
              <a:t>Учим летать и программировать</a:t>
            </a:r>
            <a:endParaRPr lang="en-US" sz="5600" dirty="0"/>
          </a:p>
        </p:txBody>
      </p:sp>
      <p:sp>
        <p:nvSpPr>
          <p:cNvPr id="4" name="Text 2"/>
          <p:cNvSpPr txBox="1"/>
          <p:nvPr/>
        </p:nvSpPr>
        <p:spPr>
          <a:xfrm>
            <a:off x="508000" y="5219700"/>
            <a:ext cx="3302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56514E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Дроны и программы для школ, кружков и колледжей</a:t>
            </a:r>
            <a:endParaRPr lang="en-US" sz="1600" dirty="0"/>
          </a:p>
        </p:txBody>
      </p:sp>
      <p:sp>
        <p:nvSpPr>
          <p:cNvPr id="5" name="Фото — заменить"/>
          <p:cNvSpPr/>
          <p:nvPr/>
        </p:nvSpPr>
        <p:spPr>
          <a:xfrm>
            <a:off x="7116233" y="1168400"/>
            <a:ext cx="4567767" cy="48768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6" name="klever5-dev-top" descr="img/klever5-dev-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0299" y="1623780"/>
            <a:ext cx="4019635" cy="39660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08000" y="6350000"/>
            <a:ext cx="12700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b"/>
          <a:lstStyle>
            <a:lvl1pPr>
              <a:defRPr sz="900">
                <a:solidFill>
                  <a:srgbClr val="706965"/>
                </a:solidFill>
                <a:latin typeface="Inter Display Medium"/>
                <a:ea typeface="Inter Display Medium"/>
                <a:cs typeface="Inter Display Medium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874000" y="596900"/>
            <a:ext cx="381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706965"/>
                </a:solidFill>
                <a:latin typeface="Inter Display Medium" pitchFamily="34" charset="0"/>
                <a:ea typeface="Inter Display Medium" pitchFamily="34" charset="-122"/>
                <a:cs typeface="Inter Display Medium" pitchFamily="34" charset="-120"/>
              </a:rPr>
              <a:t>Содержание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08000" y="1168400"/>
            <a:ext cx="4567767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dirty="0">
                <a:solidFill>
                  <a:srgbClr val="1C1C1C"/>
                </a:solidFill>
                <a:latin typeface="Inter Display Light" pitchFamily="34" charset="0"/>
                <a:ea typeface="Inter Display Light" pitchFamily="34" charset="-122"/>
                <a:cs typeface="Inter Display Light" pitchFamily="34" charset="-120"/>
              </a:rPr>
              <a:t>О чём поговорим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6172200" y="2235200"/>
            <a:ext cx="5511800" cy="0"/>
          </a:xfrm>
          <a:prstGeom prst="line">
            <a:avLst/>
          </a:prstGeom>
          <a:noFill/>
          <a:ln w="9525">
            <a:solidFill>
              <a:srgbClr val="D9D3D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72200" y="2463800"/>
            <a:ext cx="50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0696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832600" y="2413000"/>
            <a:ext cx="4851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C1C1C"/>
                </a:solidFill>
                <a:latin typeface="Inter Display Light" pitchFamily="34" charset="0"/>
                <a:ea typeface="Inter Display Light" pitchFamily="34" charset="-122"/>
                <a:cs typeface="Inter Display Light" pitchFamily="34" charset="-120"/>
              </a:rPr>
              <a:t>Кто мы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172200" y="2997200"/>
            <a:ext cx="5511800" cy="0"/>
          </a:xfrm>
          <a:prstGeom prst="line">
            <a:avLst/>
          </a:prstGeom>
          <a:noFill/>
          <a:ln w="9525">
            <a:solidFill>
              <a:srgbClr val="D9D3D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172200" y="3225800"/>
            <a:ext cx="50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0696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02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832600" y="3175000"/>
            <a:ext cx="4851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C1C1C"/>
                </a:solidFill>
                <a:latin typeface="Inter Display Light" pitchFamily="34" charset="0"/>
                <a:ea typeface="Inter Display Light" pitchFamily="34" charset="-122"/>
                <a:cs typeface="Inter Display Light" pitchFamily="34" charset="-120"/>
              </a:rPr>
              <a:t>Продукты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6172200" y="3759200"/>
            <a:ext cx="5511800" cy="0"/>
          </a:xfrm>
          <a:prstGeom prst="line">
            <a:avLst/>
          </a:prstGeom>
          <a:noFill/>
          <a:ln w="9525">
            <a:solidFill>
              <a:srgbClr val="D9D3D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72200" y="3987800"/>
            <a:ext cx="50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0696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832600" y="3937000"/>
            <a:ext cx="4851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C1C1C"/>
                </a:solidFill>
                <a:latin typeface="Inter Display Light" pitchFamily="34" charset="0"/>
                <a:ea typeface="Inter Display Light" pitchFamily="34" charset="-122"/>
                <a:cs typeface="Inter Display Light" pitchFamily="34" charset="-120"/>
              </a:rPr>
              <a:t>Как проходит обучение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6172200" y="4521200"/>
            <a:ext cx="5511800" cy="0"/>
          </a:xfrm>
          <a:prstGeom prst="line">
            <a:avLst/>
          </a:prstGeom>
          <a:noFill/>
          <a:ln w="9525">
            <a:solidFill>
              <a:srgbClr val="D9D3D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172200" y="4749800"/>
            <a:ext cx="50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0696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04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832600" y="4699000"/>
            <a:ext cx="4851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C1C1C"/>
                </a:solidFill>
                <a:latin typeface="Inter Display Light" pitchFamily="34" charset="0"/>
                <a:ea typeface="Inter Display Light" pitchFamily="34" charset="-122"/>
                <a:cs typeface="Inter Display Light" pitchFamily="34" charset="-120"/>
              </a:rPr>
              <a:t>Кейсы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6172200" y="5283200"/>
            <a:ext cx="5511800" cy="0"/>
          </a:xfrm>
          <a:prstGeom prst="line">
            <a:avLst/>
          </a:prstGeom>
          <a:noFill/>
          <a:ln w="9525">
            <a:solidFill>
              <a:srgbClr val="D9D3D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172200" y="5511800"/>
            <a:ext cx="50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0696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05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832600" y="5461000"/>
            <a:ext cx="4851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C1C1C"/>
                </a:solidFill>
                <a:latin typeface="Inter Display Light" pitchFamily="34" charset="0"/>
                <a:ea typeface="Inter Display Light" pitchFamily="34" charset="-122"/>
                <a:cs typeface="Inter Display Light" pitchFamily="34" charset="-120"/>
              </a:rPr>
              <a:t>Стоимость и поставка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08000" y="6350000"/>
            <a:ext cx="12700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b"/>
          <a:lstStyle>
            <a:lvl1pPr>
              <a:defRPr sz="900">
                <a:solidFill>
                  <a:srgbClr val="706965"/>
                </a:solidFill>
                <a:latin typeface="Inter Display Medium"/>
                <a:ea typeface="Inter Display Medium"/>
                <a:cs typeface="Inter Display Medium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874000" y="596900"/>
            <a:ext cx="381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706965"/>
                </a:solidFill>
                <a:latin typeface="Inter Display Medium" pitchFamily="34" charset="0"/>
                <a:ea typeface="Inter Display Medium" pitchFamily="34" charset="-122"/>
                <a:cs typeface="Inter Display Medium" pitchFamily="34" charset="-120"/>
              </a:rPr>
              <a:t>О компании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08000" y="1168400"/>
            <a:ext cx="4567767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dirty="0">
                <a:solidFill>
                  <a:srgbClr val="1C1C1C"/>
                </a:solidFill>
                <a:latin typeface="Inter Display Light" pitchFamily="34" charset="0"/>
                <a:ea typeface="Inter Display Light" pitchFamily="34" charset="-122"/>
                <a:cs typeface="Inter Display Light" pitchFamily="34" charset="-120"/>
              </a:rPr>
              <a:t>Кто мы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508000" y="2120900"/>
            <a:ext cx="4567767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56514E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Разрабатываем и производим образовательные дроны в России с 2016 года. Помогаем школам запускать занятия по беспилотникам с первого урока.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172200" y="3568700"/>
            <a:ext cx="5511800" cy="0"/>
          </a:xfrm>
          <a:prstGeom prst="line">
            <a:avLst/>
          </a:prstGeom>
          <a:noFill/>
          <a:ln w="9525">
            <a:solidFill>
              <a:srgbClr val="D9D3D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172200" y="3771900"/>
            <a:ext cx="173566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C1C1C"/>
                </a:solidFill>
                <a:latin typeface="Inter Display Medium" pitchFamily="34" charset="0"/>
                <a:ea typeface="Inter Display Medium" pitchFamily="34" charset="-122"/>
                <a:cs typeface="Inter Display Medium" pitchFamily="34" charset="-120"/>
              </a:rPr>
              <a:t>Производство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060267" y="3771900"/>
            <a:ext cx="36237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6514E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Собственная разработка электроники и сборка в России.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72200" y="4394200"/>
            <a:ext cx="5511800" cy="0"/>
          </a:xfrm>
          <a:prstGeom prst="line">
            <a:avLst/>
          </a:prstGeom>
          <a:noFill/>
          <a:ln w="9525">
            <a:solidFill>
              <a:srgbClr val="D9D3D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172200" y="4597400"/>
            <a:ext cx="173566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C1C1C"/>
                </a:solidFill>
                <a:latin typeface="Inter Display Medium" pitchFamily="34" charset="0"/>
                <a:ea typeface="Inter Display Medium" pitchFamily="34" charset="-122"/>
                <a:cs typeface="Inter Display Medium" pitchFamily="34" charset="-120"/>
              </a:rPr>
              <a:t>Методика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060267" y="4597400"/>
            <a:ext cx="36237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6514E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Программы и сценарии уроков для преподавателей без опыта в робототехнике.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72200" y="5219700"/>
            <a:ext cx="5511800" cy="0"/>
          </a:xfrm>
          <a:prstGeom prst="line">
            <a:avLst/>
          </a:prstGeom>
          <a:noFill/>
          <a:ln w="9525">
            <a:solidFill>
              <a:srgbClr val="D9D3D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72200" y="5422900"/>
            <a:ext cx="173566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C1C1C"/>
                </a:solidFill>
                <a:latin typeface="Inter Display Medium" pitchFamily="34" charset="0"/>
                <a:ea typeface="Inter Display Medium" pitchFamily="34" charset="-122"/>
                <a:cs typeface="Inter Display Medium" pitchFamily="34" charset="-120"/>
              </a:rPr>
              <a:t>Поддержка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060267" y="5422900"/>
            <a:ext cx="36237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6514E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Обучение педагогов, запчасти и сервис по всей стране.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72200" y="6045200"/>
            <a:ext cx="5511800" cy="0"/>
          </a:xfrm>
          <a:prstGeom prst="line">
            <a:avLst/>
          </a:prstGeom>
          <a:noFill/>
          <a:ln w="9525">
            <a:solidFill>
              <a:srgbClr val="D9D3D0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08000" y="6350000"/>
            <a:ext cx="12700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b"/>
          <a:lstStyle>
            <a:lvl1pPr>
              <a:defRPr sz="900">
                <a:solidFill>
                  <a:srgbClr val="706965"/>
                </a:solidFill>
                <a:latin typeface="Inter Display Medium"/>
                <a:ea typeface="Inter Display Medium"/>
                <a:cs typeface="Inter Display Medium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874000" y="596900"/>
            <a:ext cx="381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706965"/>
                </a:solidFill>
                <a:latin typeface="Inter Display Medium" pitchFamily="34" charset="0"/>
                <a:ea typeface="Inter Display Medium" pitchFamily="34" charset="-122"/>
                <a:cs typeface="Inter Display Medium" pitchFamily="34" charset="-120"/>
              </a:rPr>
              <a:t>История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08000" y="1168400"/>
            <a:ext cx="9287933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dirty="0">
                <a:solidFill>
                  <a:srgbClr val="1C1C1C"/>
                </a:solidFill>
                <a:latin typeface="Inter Display Light" pitchFamily="34" charset="0"/>
                <a:ea typeface="Inter Display Light" pitchFamily="34" charset="-122"/>
                <a:cs typeface="Inter Display Light" pitchFamily="34" charset="-120"/>
              </a:rPr>
              <a:t>Как мы росли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508000" y="4445000"/>
            <a:ext cx="2679700" cy="9525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08000" y="4648200"/>
            <a:ext cx="26797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dirty="0">
                <a:solidFill>
                  <a:srgbClr val="1C1C1C"/>
                </a:solidFill>
                <a:latin typeface="Inter Display Light" pitchFamily="34" charset="0"/>
                <a:ea typeface="Inter Display Light" pitchFamily="34" charset="-122"/>
                <a:cs typeface="Inter Display Light" pitchFamily="34" charset="-120"/>
              </a:rPr>
              <a:t>2016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508000" y="5410200"/>
            <a:ext cx="26797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6514E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Основание Клевер COEX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40100" y="4445000"/>
            <a:ext cx="2679700" cy="9525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340100" y="4648200"/>
            <a:ext cx="26797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dirty="0">
                <a:solidFill>
                  <a:srgbClr val="1C1C1C"/>
                </a:solidFill>
                <a:latin typeface="Inter Display Light" pitchFamily="34" charset="0"/>
                <a:ea typeface="Inter Display Light" pitchFamily="34" charset="-122"/>
                <a:cs typeface="Inter Display Light" pitchFamily="34" charset="-120"/>
              </a:rPr>
              <a:t>2019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3340100" y="5410200"/>
            <a:ext cx="26797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6514E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Запуск конструктора для школ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2200" y="4445000"/>
            <a:ext cx="2679700" cy="9525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172200" y="4648200"/>
            <a:ext cx="26797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dirty="0">
                <a:solidFill>
                  <a:srgbClr val="1C1C1C"/>
                </a:solidFill>
                <a:latin typeface="Inter Display Light" pitchFamily="34" charset="0"/>
                <a:ea typeface="Inter Display Light" pitchFamily="34" charset="-122"/>
                <a:cs typeface="Inter Display Light" pitchFamily="34" charset="-120"/>
              </a:rPr>
              <a:t>2022</a:t>
            </a:r>
            <a:endParaRPr lang="en-US" sz="4800" dirty="0"/>
          </a:p>
        </p:txBody>
      </p:sp>
      <p:sp>
        <p:nvSpPr>
          <p:cNvPr id="12" name="Text 10"/>
          <p:cNvSpPr txBox="1"/>
          <p:nvPr/>
        </p:nvSpPr>
        <p:spPr>
          <a:xfrm>
            <a:off x="6172200" y="5410200"/>
            <a:ext cx="26797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6514E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Программа для 44 регионов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004300" y="4445000"/>
            <a:ext cx="2679700" cy="19050"/>
          </a:xfrm>
          <a:prstGeom prst="rect">
            <a:avLst/>
          </a:prstGeom>
          <a:solidFill>
            <a:srgbClr val="FF411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004300" y="4648200"/>
            <a:ext cx="26797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dirty="0">
                <a:solidFill>
                  <a:srgbClr val="1C1C1C"/>
                </a:solidFill>
                <a:latin typeface="Inter Display Light" pitchFamily="34" charset="0"/>
                <a:ea typeface="Inter Display Light" pitchFamily="34" charset="-122"/>
                <a:cs typeface="Inter Display Light" pitchFamily="34" charset="-120"/>
              </a:rPr>
              <a:t>2026</a:t>
            </a:r>
            <a:endParaRPr lang="en-US" sz="4800" dirty="0"/>
          </a:p>
        </p:txBody>
      </p:sp>
      <p:sp>
        <p:nvSpPr>
          <p:cNvPr id="15" name="Text 13"/>
          <p:cNvSpPr txBox="1"/>
          <p:nvPr/>
        </p:nvSpPr>
        <p:spPr>
          <a:xfrm>
            <a:off x="9004300" y="5410200"/>
            <a:ext cx="26797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6514E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Линейка «Клевер 5» и версия FPV для гонок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08000" y="6350000"/>
            <a:ext cx="12700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b"/>
          <a:lstStyle>
            <a:lvl1pPr>
              <a:defRPr sz="900">
                <a:solidFill>
                  <a:srgbClr val="706965"/>
                </a:solidFill>
                <a:latin typeface="Inter Display Medium"/>
                <a:ea typeface="Inter Display Medium"/>
                <a:cs typeface="Inter Display Medium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874000" y="596900"/>
            <a:ext cx="381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49C97"/>
                </a:solidFill>
                <a:latin typeface="Inter Display Medium" pitchFamily="34" charset="0"/>
                <a:ea typeface="Inter Display Medium" pitchFamily="34" charset="-122"/>
                <a:cs typeface="Inter Display Medium" pitchFamily="34" charset="-120"/>
              </a:rPr>
              <a:t>Цифры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08000" y="1168400"/>
            <a:ext cx="83439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dirty="0">
                <a:solidFill>
                  <a:srgbClr val="F1EEEC"/>
                </a:solidFill>
                <a:latin typeface="Inter Display Light" pitchFamily="34" charset="0"/>
                <a:ea typeface="Inter Display Light" pitchFamily="34" charset="-122"/>
                <a:cs typeface="Inter Display Light" pitchFamily="34" charset="-120"/>
              </a:rPr>
              <a:t>Клевер в школах России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508000" y="4826000"/>
            <a:ext cx="2679700" cy="0"/>
          </a:xfrm>
          <a:prstGeom prst="line">
            <a:avLst/>
          </a:prstGeom>
          <a:noFill/>
          <a:ln w="9525">
            <a:solidFill>
              <a:srgbClr val="3E3B3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8000" y="5029200"/>
            <a:ext cx="26797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00" spc="-150" kern="0" dirty="0">
                <a:solidFill>
                  <a:srgbClr val="F1EEEC"/>
                </a:solidFill>
                <a:latin typeface="Inter Display Light" pitchFamily="34" charset="0"/>
                <a:ea typeface="Inter Display Light" pitchFamily="34" charset="-122"/>
                <a:cs typeface="Inter Display Light" pitchFamily="34" charset="-120"/>
              </a:rPr>
              <a:t>1 200+</a:t>
            </a:r>
            <a:endParaRPr lang="en-US" sz="5600" dirty="0"/>
          </a:p>
        </p:txBody>
      </p:sp>
      <p:sp>
        <p:nvSpPr>
          <p:cNvPr id="6" name="Text 4"/>
          <p:cNvSpPr txBox="1"/>
          <p:nvPr/>
        </p:nvSpPr>
        <p:spPr>
          <a:xfrm>
            <a:off x="508000" y="5829300"/>
            <a:ext cx="2679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49C97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образовательных организаций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40100" y="4826000"/>
            <a:ext cx="2679700" cy="0"/>
          </a:xfrm>
          <a:prstGeom prst="line">
            <a:avLst/>
          </a:prstGeom>
          <a:noFill/>
          <a:ln w="9525">
            <a:solidFill>
              <a:srgbClr val="3E3B3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40100" y="5029200"/>
            <a:ext cx="26797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00" spc="-150" kern="0" dirty="0">
                <a:solidFill>
                  <a:srgbClr val="F1EEEC"/>
                </a:solidFill>
                <a:latin typeface="Inter Display Light" pitchFamily="34" charset="0"/>
                <a:ea typeface="Inter Display Light" pitchFamily="34" charset="-122"/>
                <a:cs typeface="Inter Display Light" pitchFamily="34" charset="-120"/>
              </a:rPr>
              <a:t>48</a:t>
            </a:r>
            <a:endParaRPr lang="en-US" sz="5600" dirty="0"/>
          </a:p>
        </p:txBody>
      </p:sp>
      <p:sp>
        <p:nvSpPr>
          <p:cNvPr id="9" name="Text 7"/>
          <p:cNvSpPr txBox="1"/>
          <p:nvPr/>
        </p:nvSpPr>
        <p:spPr>
          <a:xfrm>
            <a:off x="3340100" y="5829300"/>
            <a:ext cx="2679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49C97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регионов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2200" y="4826000"/>
            <a:ext cx="2679700" cy="0"/>
          </a:xfrm>
          <a:prstGeom prst="line">
            <a:avLst/>
          </a:prstGeom>
          <a:noFill/>
          <a:ln w="9525">
            <a:solidFill>
              <a:srgbClr val="3E3B3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72200" y="5029200"/>
            <a:ext cx="26797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00" spc="-150" kern="0" dirty="0">
                <a:solidFill>
                  <a:srgbClr val="FF4119"/>
                </a:solidFill>
                <a:latin typeface="Inter Display Light" pitchFamily="34" charset="0"/>
                <a:ea typeface="Inter Display Light" pitchFamily="34" charset="-122"/>
                <a:cs typeface="Inter Display Light" pitchFamily="34" charset="-120"/>
              </a:rPr>
              <a:t>25 000</a:t>
            </a:r>
            <a:endParaRPr lang="en-US" sz="5600" dirty="0"/>
          </a:p>
        </p:txBody>
      </p:sp>
      <p:sp>
        <p:nvSpPr>
          <p:cNvPr id="12" name="Text 10"/>
          <p:cNvSpPr txBox="1"/>
          <p:nvPr/>
        </p:nvSpPr>
        <p:spPr>
          <a:xfrm>
            <a:off x="6172200" y="5829300"/>
            <a:ext cx="2679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49C97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учеников прошли курс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004300" y="4826000"/>
            <a:ext cx="2679700" cy="0"/>
          </a:xfrm>
          <a:prstGeom prst="line">
            <a:avLst/>
          </a:prstGeom>
          <a:noFill/>
          <a:ln w="9525">
            <a:solidFill>
              <a:srgbClr val="3E3B3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004300" y="5029200"/>
            <a:ext cx="26797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00" spc="-150" kern="0" dirty="0">
                <a:solidFill>
                  <a:srgbClr val="F1EEEC"/>
                </a:solidFill>
                <a:latin typeface="Inter Display Light" pitchFamily="34" charset="0"/>
                <a:ea typeface="Inter Display Light" pitchFamily="34" charset="-122"/>
                <a:cs typeface="Inter Display Light" pitchFamily="34" charset="-120"/>
              </a:rPr>
              <a:t>36 ч</a:t>
            </a:r>
            <a:endParaRPr lang="en-US" sz="5600" dirty="0"/>
          </a:p>
        </p:txBody>
      </p:sp>
      <p:sp>
        <p:nvSpPr>
          <p:cNvPr id="15" name="Text 13"/>
          <p:cNvSpPr txBox="1"/>
          <p:nvPr/>
        </p:nvSpPr>
        <p:spPr>
          <a:xfrm>
            <a:off x="9004300" y="5829300"/>
            <a:ext cx="2679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49C97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готовой программы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08000" y="6350000"/>
            <a:ext cx="12700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b"/>
          <a:lstStyle>
            <a:lvl1pPr>
              <a:defRPr sz="900">
                <a:solidFill>
                  <a:srgbClr val="A49C97"/>
                </a:solidFill>
                <a:latin typeface="Inter Display Medium"/>
                <a:ea typeface="Inter Display Medium"/>
                <a:cs typeface="Inter Display Medium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874000" y="596900"/>
            <a:ext cx="381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1C1C1C"/>
                </a:solidFill>
                <a:latin typeface="Inter Display Medium" pitchFamily="34" charset="0"/>
                <a:ea typeface="Inter Display Medium" pitchFamily="34" charset="-122"/>
                <a:cs typeface="Inter Display Medium" pitchFamily="34" charset="-120"/>
              </a:rPr>
              <a:t>Раздел 2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08000" y="4826000"/>
            <a:ext cx="6985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0" spc="-200" kern="0" dirty="0">
                <a:solidFill>
                  <a:srgbClr val="FFFFFF"/>
                </a:solidFill>
                <a:latin typeface="Inter Display Light" pitchFamily="34" charset="0"/>
                <a:ea typeface="Inter Display Light" pitchFamily="34" charset="-122"/>
                <a:cs typeface="Inter Display Light" pitchFamily="34" charset="-120"/>
              </a:rPr>
              <a:t>Продукты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8509000" y="5461000"/>
            <a:ext cx="317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C1C1C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Наборы для уроков, кружков и соревнований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08000" y="6350000"/>
            <a:ext cx="12700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b"/>
          <a:lstStyle>
            <a:lvl1pPr>
              <a:defRPr sz="900">
                <a:solidFill>
                  <a:srgbClr val="1C1C1C"/>
                </a:solidFill>
                <a:latin typeface="Inter Display Medium"/>
                <a:ea typeface="Inter Display Medium"/>
                <a:cs typeface="Inter Display Medium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874000" y="596900"/>
            <a:ext cx="381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706965"/>
                </a:solidFill>
                <a:latin typeface="Inter Display Medium" pitchFamily="34" charset="0"/>
                <a:ea typeface="Inter Display Medium" pitchFamily="34" charset="-122"/>
                <a:cs typeface="Inter Display Medium" pitchFamily="34" charset="-120"/>
              </a:rPr>
              <a:t>Продукты</a:t>
            </a:r>
            <a:endParaRPr lang="en-US" sz="900" dirty="0"/>
          </a:p>
        </p:txBody>
      </p:sp>
      <p:sp>
        <p:nvSpPr>
          <p:cNvPr id="3" name="Фото — заменить"/>
          <p:cNvSpPr/>
          <p:nvPr/>
        </p:nvSpPr>
        <p:spPr>
          <a:xfrm>
            <a:off x="508000" y="1168400"/>
            <a:ext cx="6455833" cy="48768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klever5-code-top" descr="img/klever5-code-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9065" y="1461008"/>
            <a:ext cx="4273702" cy="429158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16233" y="1168400"/>
            <a:ext cx="825500" cy="228600"/>
          </a:xfrm>
          <a:prstGeom prst="roundRect">
            <a:avLst>
              <a:gd name="adj" fmla="val 12000"/>
            </a:avLst>
          </a:prstGeom>
          <a:solidFill>
            <a:srgbClr val="FF4119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16233" y="1168400"/>
            <a:ext cx="825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C1C1C"/>
                </a:solidFill>
                <a:latin typeface="Inter Display Medium" pitchFamily="34" charset="0"/>
                <a:ea typeface="Inter Display Medium" pitchFamily="34" charset="-122"/>
                <a:cs typeface="Inter Display Medium" pitchFamily="34" charset="-120"/>
              </a:rPr>
              <a:t>Для школ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7116233" y="1600200"/>
            <a:ext cx="4567767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dirty="0">
                <a:solidFill>
                  <a:srgbClr val="1C1C1C"/>
                </a:solidFill>
                <a:latin typeface="Inter Display Light" pitchFamily="34" charset="0"/>
                <a:ea typeface="Inter Display Light" pitchFamily="34" charset="-122"/>
                <a:cs typeface="Inter Display Light" pitchFamily="34" charset="-120"/>
              </a:rPr>
              <a:t>Клевер 5 КОД</a:t>
            </a:r>
            <a:endParaRPr lang="en-US" sz="4800" dirty="0"/>
          </a:p>
        </p:txBody>
      </p:sp>
      <p:sp>
        <p:nvSpPr>
          <p:cNvPr id="8" name="Text 5"/>
          <p:cNvSpPr txBox="1"/>
          <p:nvPr/>
        </p:nvSpPr>
        <p:spPr>
          <a:xfrm>
            <a:off x="7116233" y="2489200"/>
            <a:ext cx="4567767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56514E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Конструктор для обучения: от сборки и первых полетов до автономных миссий и собственных инженерных проектов.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116233" y="4724400"/>
            <a:ext cx="4567767" cy="0"/>
          </a:xfrm>
          <a:prstGeom prst="line">
            <a:avLst/>
          </a:prstGeom>
          <a:noFill/>
          <a:ln w="9525">
            <a:solidFill>
              <a:srgbClr val="D9D3D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116233" y="4927600"/>
            <a:ext cx="19050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06965"/>
                </a:solidFill>
                <a:latin typeface="Inter Display Medium" pitchFamily="34" charset="0"/>
                <a:ea typeface="Inter Display Medium" pitchFamily="34" charset="-122"/>
                <a:cs typeface="Inter Display Medium" pitchFamily="34" charset="-120"/>
              </a:rPr>
              <a:t>Масса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7116233" y="5105400"/>
            <a:ext cx="1905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 кг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9476317" y="4927600"/>
            <a:ext cx="19050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06965"/>
                </a:solidFill>
                <a:latin typeface="Inter Display Medium" pitchFamily="34" charset="0"/>
                <a:ea typeface="Inter Display Medium" pitchFamily="34" charset="-122"/>
                <a:cs typeface="Inter Display Medium" pitchFamily="34" charset="-120"/>
              </a:rPr>
              <a:t>Время полёта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9476317" y="5105400"/>
            <a:ext cx="1905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до 15 мин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7116233" y="5511800"/>
            <a:ext cx="19050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06965"/>
                </a:solidFill>
                <a:latin typeface="Inter Display Medium" pitchFamily="34" charset="0"/>
                <a:ea typeface="Inter Display Medium" pitchFamily="34" charset="-122"/>
                <a:cs typeface="Inter Display Medium" pitchFamily="34" charset="-120"/>
              </a:rPr>
              <a:t>Возраст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7116233" y="5689600"/>
            <a:ext cx="1905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12+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9476317" y="5511800"/>
            <a:ext cx="19050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06965"/>
                </a:solidFill>
                <a:latin typeface="Inter Display Medium" pitchFamily="34" charset="0"/>
                <a:ea typeface="Inter Display Medium" pitchFamily="34" charset="-122"/>
                <a:cs typeface="Inter Display Medium" pitchFamily="34" charset="-120"/>
              </a:rPr>
              <a:t>Языки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9476317" y="5689600"/>
            <a:ext cx="1905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Python, ROS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08000" y="6350000"/>
            <a:ext cx="12700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b"/>
          <a:lstStyle>
            <a:lvl1pPr>
              <a:defRPr sz="900">
                <a:solidFill>
                  <a:srgbClr val="706965"/>
                </a:solidFill>
                <a:latin typeface="Inter Display Medium"/>
                <a:ea typeface="Inter Display Medium"/>
                <a:cs typeface="Inter Display Medium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874000" y="596900"/>
            <a:ext cx="381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706965"/>
                </a:solidFill>
                <a:latin typeface="Inter Display Medium" pitchFamily="34" charset="0"/>
                <a:ea typeface="Inter Display Medium" pitchFamily="34" charset="-122"/>
                <a:cs typeface="Inter Display Medium" pitchFamily="34" charset="-120"/>
              </a:rPr>
              <a:t>Клевер 4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08000" y="1168400"/>
            <a:ext cx="4567767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dirty="0">
                <a:solidFill>
                  <a:srgbClr val="1C1C1C"/>
                </a:solidFill>
                <a:latin typeface="Inter Display Light" pitchFamily="34" charset="0"/>
                <a:ea typeface="Inter Display Light" pitchFamily="34" charset="-122"/>
                <a:cs typeface="Inter Display Light" pitchFamily="34" charset="-120"/>
              </a:rPr>
              <a:t>Характеристики</a:t>
            </a:r>
            <a:endParaRPr lang="en-US" sz="4800" dirty="0"/>
          </a:p>
        </p:txBody>
      </p:sp>
      <p:graphicFrame>
        <p:nvGraphicFramePr>
          <p:cNvPr id="9" name="Таблица характеристик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28167" y="1168400"/>
          <a:ext cx="6455833" cy="914400"/>
        </p:xfrm>
        <a:graphic>
          <a:graphicData uri="http://schemas.openxmlformats.org/drawingml/2006/table">
            <a:tbl>
              <a:tblPr/>
              <a:tblGrid>
                <a:gridCol w="2905125"/>
                <a:gridCol w="3550708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6514E"/>
                          </a:solidFill>
                          <a:latin typeface="Inter Display" pitchFamily="34" charset="0"/>
                          <a:ea typeface="Inter Display" pitchFamily="34" charset="-122"/>
                          <a:cs typeface="Inter Display" pitchFamily="34" charset="-120"/>
                        </a:rPr>
                        <a:t>Габариты, мм</a:t>
                      </a:r>
                      <a:endParaRPr lang="en-US" sz="1200" dirty="0">
                        <a:latin typeface="Inter Display" charset="0"/>
                        <a:ea typeface="Inter Display" charset="0"/>
                        <a:cs typeface="Inter Display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Geist Mono" pitchFamily="34" charset="0"/>
                          <a:ea typeface="Geist Mono" pitchFamily="34" charset="-122"/>
                          <a:cs typeface="Geist Mono" pitchFamily="34" charset="-120"/>
                        </a:rPr>
                        <a:t>330 × 330 × 95</a:t>
                      </a:r>
                      <a:endParaRPr lang="en-US" sz="1200" dirty="0">
                        <a:latin typeface="Geist Mono" charset="0"/>
                        <a:ea typeface="Geist Mono" charset="0"/>
                        <a:cs typeface="Geist Mono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6514E"/>
                          </a:solidFill>
                          <a:latin typeface="Inter Display" pitchFamily="34" charset="0"/>
                          <a:ea typeface="Inter Display" pitchFamily="34" charset="-122"/>
                          <a:cs typeface="Inter Display" pitchFamily="34" charset="-120"/>
                        </a:rPr>
                        <a:t>Масса, г</a:t>
                      </a:r>
                      <a:endParaRPr lang="en-US" sz="1200" dirty="0">
                        <a:latin typeface="Inter Display" charset="0"/>
                        <a:ea typeface="Inter Display" charset="0"/>
                        <a:cs typeface="Inter Display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Geist Mono" pitchFamily="34" charset="0"/>
                          <a:ea typeface="Geist Mono" pitchFamily="34" charset="-122"/>
                          <a:cs typeface="Geist Mono" pitchFamily="34" charset="-120"/>
                        </a:rPr>
                        <a:t>650</a:t>
                      </a:r>
                      <a:endParaRPr lang="en-US" sz="1200" dirty="0">
                        <a:latin typeface="Geist Mono" charset="0"/>
                        <a:ea typeface="Geist Mono" charset="0"/>
                        <a:cs typeface="Geist Mono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6514E"/>
                          </a:solidFill>
                          <a:latin typeface="Inter Display" pitchFamily="34" charset="0"/>
                          <a:ea typeface="Inter Display" pitchFamily="34" charset="-122"/>
                          <a:cs typeface="Inter Display" pitchFamily="34" charset="-120"/>
                        </a:rPr>
                        <a:t>Тип сборки</a:t>
                      </a:r>
                      <a:endParaRPr lang="en-US" sz="1200" dirty="0">
                        <a:latin typeface="Inter Display" charset="0"/>
                        <a:ea typeface="Inter Display" charset="0"/>
                        <a:cs typeface="Inter Display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Geist Mono" pitchFamily="34" charset="0"/>
                          <a:ea typeface="Geist Mono" pitchFamily="34" charset="-122"/>
                          <a:cs typeface="Geist Mono" pitchFamily="34" charset="-120"/>
                        </a:rPr>
                        <a:t>на коннекторах</a:t>
                      </a:r>
                      <a:endParaRPr lang="en-US" sz="1200" dirty="0">
                        <a:latin typeface="Geist Mono" charset="0"/>
                        <a:ea typeface="Geist Mono" charset="0"/>
                        <a:cs typeface="Geist Mono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6514E"/>
                          </a:solidFill>
                          <a:latin typeface="Inter Display" pitchFamily="34" charset="0"/>
                          <a:ea typeface="Inter Display" pitchFamily="34" charset="-122"/>
                          <a:cs typeface="Inter Display" pitchFamily="34" charset="-120"/>
                        </a:rPr>
                        <a:t>Рама</a:t>
                      </a:r>
                      <a:endParaRPr lang="en-US" sz="1200" dirty="0">
                        <a:latin typeface="Inter Display" charset="0"/>
                        <a:ea typeface="Inter Display" charset="0"/>
                        <a:cs typeface="Inter Display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Geist Mono" pitchFamily="34" charset="0"/>
                          <a:ea typeface="Geist Mono" pitchFamily="34" charset="-122"/>
                          <a:cs typeface="Geist Mono" pitchFamily="34" charset="-120"/>
                        </a:rPr>
                        <a:t>карбон</a:t>
                      </a:r>
                      <a:endParaRPr lang="en-US" sz="1200" dirty="0">
                        <a:latin typeface="Geist Mono" charset="0"/>
                        <a:ea typeface="Geist Mono" charset="0"/>
                        <a:cs typeface="Geist Mono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6514E"/>
                          </a:solidFill>
                          <a:latin typeface="Inter Display" pitchFamily="34" charset="0"/>
                          <a:ea typeface="Inter Display" pitchFamily="34" charset="-122"/>
                          <a:cs typeface="Inter Display" pitchFamily="34" charset="-120"/>
                        </a:rPr>
                        <a:t>Пропеллеры, Ø</a:t>
                      </a:r>
                      <a:endParaRPr lang="en-US" sz="1200" dirty="0">
                        <a:latin typeface="Inter Display" charset="0"/>
                        <a:ea typeface="Inter Display" charset="0"/>
                        <a:cs typeface="Inter Display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Geist Mono" pitchFamily="34" charset="0"/>
                          <a:ea typeface="Geist Mono" pitchFamily="34" charset="-122"/>
                          <a:cs typeface="Geist Mono" pitchFamily="34" charset="-120"/>
                        </a:rPr>
                        <a:t>5″</a:t>
                      </a:r>
                      <a:endParaRPr lang="en-US" sz="1200" dirty="0">
                        <a:latin typeface="Geist Mono" charset="0"/>
                        <a:ea typeface="Geist Mono" charset="0"/>
                        <a:cs typeface="Geist Mono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6514E"/>
                          </a:solidFill>
                          <a:latin typeface="Inter Display" pitchFamily="34" charset="0"/>
                          <a:ea typeface="Inter Display" pitchFamily="34" charset="-122"/>
                          <a:cs typeface="Inter Display" pitchFamily="34" charset="-120"/>
                        </a:rPr>
                        <a:t>АКБ, мА·ч</a:t>
                      </a:r>
                      <a:endParaRPr lang="en-US" sz="1200" dirty="0">
                        <a:latin typeface="Inter Display" charset="0"/>
                        <a:ea typeface="Inter Display" charset="0"/>
                        <a:cs typeface="Inter Display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Geist Mono" pitchFamily="34" charset="0"/>
                          <a:ea typeface="Geist Mono" pitchFamily="34" charset="-122"/>
                          <a:cs typeface="Geist Mono" pitchFamily="34" charset="-120"/>
                        </a:rPr>
                        <a:t>3000, 6S</a:t>
                      </a:r>
                      <a:endParaRPr lang="en-US" sz="1200" dirty="0">
                        <a:latin typeface="Geist Mono" charset="0"/>
                        <a:ea typeface="Geist Mono" charset="0"/>
                        <a:cs typeface="Geist Mono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6514E"/>
                          </a:solidFill>
                          <a:latin typeface="Inter Display" pitchFamily="34" charset="0"/>
                          <a:ea typeface="Inter Display" pitchFamily="34" charset="-122"/>
                          <a:cs typeface="Inter Display" pitchFamily="34" charset="-120"/>
                        </a:rPr>
                        <a:t>Компьютер</a:t>
                      </a:r>
                      <a:endParaRPr lang="en-US" sz="1200" dirty="0">
                        <a:latin typeface="Inter Display" charset="0"/>
                        <a:ea typeface="Inter Display" charset="0"/>
                        <a:cs typeface="Inter Display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Geist Mono" pitchFamily="34" charset="0"/>
                          <a:ea typeface="Geist Mono" pitchFamily="34" charset="-122"/>
                          <a:cs typeface="Geist Mono" pitchFamily="34" charset="-120"/>
                        </a:rPr>
                        <a:t>Raspberry Pi 5, 8 ГБ</a:t>
                      </a:r>
                      <a:endParaRPr lang="en-US" sz="1200" dirty="0">
                        <a:latin typeface="Geist Mono" charset="0"/>
                        <a:ea typeface="Geist Mono" charset="0"/>
                        <a:cs typeface="Geist Mono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6514E"/>
                          </a:solidFill>
                          <a:latin typeface="Inter Display" pitchFamily="34" charset="0"/>
                          <a:ea typeface="Inter Display" pitchFamily="34" charset="-122"/>
                          <a:cs typeface="Inter Display" pitchFamily="34" charset="-120"/>
                        </a:rPr>
                        <a:t>Контроллер</a:t>
                      </a:r>
                      <a:endParaRPr lang="en-US" sz="1200" dirty="0">
                        <a:latin typeface="Inter Display" charset="0"/>
                        <a:ea typeface="Inter Display" charset="0"/>
                        <a:cs typeface="Inter Display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Geist Mono" pitchFamily="34" charset="0"/>
                          <a:ea typeface="Geist Mono" pitchFamily="34" charset="-122"/>
                          <a:cs typeface="Geist Mono" pitchFamily="34" charset="-120"/>
                        </a:rPr>
                        <a:t>STM32H743, BMI088, BMI270</a:t>
                      </a:r>
                      <a:endParaRPr lang="en-US" sz="1200" dirty="0">
                        <a:latin typeface="Geist Mono" charset="0"/>
                        <a:ea typeface="Geist Mono" charset="0"/>
                        <a:cs typeface="Geist Mono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6514E"/>
                          </a:solidFill>
                          <a:latin typeface="Inter Display" pitchFamily="34" charset="0"/>
                          <a:ea typeface="Inter Display" pitchFamily="34" charset="-122"/>
                          <a:cs typeface="Inter Display" pitchFamily="34" charset="-120"/>
                        </a:rPr>
                        <a:t>Радиоканал</a:t>
                      </a:r>
                      <a:endParaRPr lang="en-US" sz="1200" dirty="0">
                        <a:latin typeface="Inter Display" charset="0"/>
                        <a:ea typeface="Inter Display" charset="0"/>
                        <a:cs typeface="Inter Display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Geist Mono" pitchFamily="34" charset="0"/>
                          <a:ea typeface="Geist Mono" pitchFamily="34" charset="-122"/>
                          <a:cs typeface="Geist Mono" pitchFamily="34" charset="-120"/>
                        </a:rPr>
                        <a:t>2.4 ГГц, ELRS</a:t>
                      </a:r>
                      <a:endParaRPr lang="en-US" sz="1200" dirty="0">
                        <a:latin typeface="Geist Mono" charset="0"/>
                        <a:ea typeface="Geist Mono" charset="0"/>
                        <a:cs typeface="Geist Mono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6514E"/>
                          </a:solidFill>
                          <a:latin typeface="Inter Display" pitchFamily="34" charset="0"/>
                          <a:ea typeface="Inter Display" pitchFamily="34" charset="-122"/>
                          <a:cs typeface="Inter Display" pitchFamily="34" charset="-120"/>
                        </a:rPr>
                        <a:t>Образ</a:t>
                      </a:r>
                      <a:endParaRPr lang="en-US" sz="1200" dirty="0">
                        <a:latin typeface="Inter Display" charset="0"/>
                        <a:ea typeface="Inter Display" charset="0"/>
                        <a:cs typeface="Inter Display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Geist Mono" pitchFamily="34" charset="0"/>
                          <a:ea typeface="Geist Mono" pitchFamily="34" charset="-122"/>
                          <a:cs typeface="Geist Mono" pitchFamily="34" charset="-120"/>
                        </a:rPr>
                        <a:t>ROS2</a:t>
                      </a:r>
                      <a:endParaRPr lang="en-US" sz="1200" dirty="0">
                        <a:latin typeface="Geist Mono" charset="0"/>
                        <a:ea typeface="Geist Mono" charset="0"/>
                        <a:cs typeface="Geist Mono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6514E"/>
                          </a:solidFill>
                          <a:latin typeface="Inter Display" pitchFamily="34" charset="0"/>
                          <a:ea typeface="Inter Display" pitchFamily="34" charset="-122"/>
                          <a:cs typeface="Inter Display" pitchFamily="34" charset="-120"/>
                        </a:rPr>
                        <a:t>Прошивка</a:t>
                      </a:r>
                      <a:endParaRPr lang="en-US" sz="1200" dirty="0">
                        <a:latin typeface="Inter Display" charset="0"/>
                        <a:ea typeface="Inter Display" charset="0"/>
                        <a:cs typeface="Inter Display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Geist Mono" pitchFamily="34" charset="0"/>
                          <a:ea typeface="Geist Mono" pitchFamily="34" charset="-122"/>
                          <a:cs typeface="Geist Mono" pitchFamily="34" charset="-120"/>
                        </a:rPr>
                        <a:t>PX4, BetaFlight, ArduPilot, INAV</a:t>
                      </a:r>
                      <a:endParaRPr lang="en-US" sz="1200" dirty="0">
                        <a:latin typeface="Geist Mono" charset="0"/>
                        <a:ea typeface="Geist Mono" charset="0"/>
                        <a:cs typeface="Geist Mono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6514E"/>
                          </a:solidFill>
                          <a:latin typeface="Inter Display" pitchFamily="34" charset="0"/>
                          <a:ea typeface="Inter Display" pitchFamily="34" charset="-122"/>
                          <a:cs typeface="Inter Display" pitchFamily="34" charset="-120"/>
                        </a:rPr>
                        <a:t>Время полета, мин</a:t>
                      </a:r>
                      <a:endParaRPr lang="en-US" sz="1200" dirty="0">
                        <a:latin typeface="Inter Display" charset="0"/>
                        <a:ea typeface="Inter Display" charset="0"/>
                        <a:cs typeface="Inter Display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Geist Mono" pitchFamily="34" charset="0"/>
                          <a:ea typeface="Geist Mono" pitchFamily="34" charset="-122"/>
                          <a:cs typeface="Geist Mono" pitchFamily="34" charset="-120"/>
                        </a:rPr>
                        <a:t>до 14</a:t>
                      </a:r>
                      <a:endParaRPr lang="en-US" sz="1200" dirty="0">
                        <a:latin typeface="Geist Mono" charset="0"/>
                        <a:ea typeface="Geist Mono" charset="0"/>
                        <a:cs typeface="Geist Mono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08000" y="6350000"/>
            <a:ext cx="12700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b"/>
          <a:lstStyle>
            <a:lvl1pPr>
              <a:defRPr sz="900">
                <a:solidFill>
                  <a:srgbClr val="706965"/>
                </a:solidFill>
                <a:latin typeface="Inter Display Medium"/>
                <a:ea typeface="Inter Display Medium"/>
                <a:cs typeface="Inter Display Medium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874000" y="596900"/>
            <a:ext cx="381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706965"/>
                </a:solidFill>
                <a:latin typeface="Inter Display Medium" pitchFamily="34" charset="0"/>
                <a:ea typeface="Inter Display Medium" pitchFamily="34" charset="-122"/>
                <a:cs typeface="Inter Display Medium" pitchFamily="34" charset="-120"/>
              </a:rPr>
              <a:t>Как проходит курс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08000" y="1168400"/>
            <a:ext cx="9287933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dirty="0">
                <a:solidFill>
                  <a:srgbClr val="1C1C1C"/>
                </a:solidFill>
                <a:latin typeface="Inter Display Light" pitchFamily="34" charset="0"/>
                <a:ea typeface="Inter Display Light" pitchFamily="34" charset="-122"/>
                <a:cs typeface="Inter Display Light" pitchFamily="34" charset="-120"/>
              </a:rPr>
              <a:t>Три шага к первому полёту</a:t>
            </a:r>
            <a:endParaRPr lang="en-US" sz="4800" dirty="0"/>
          </a:p>
        </p:txBody>
      </p:sp>
      <p:sp>
        <p:nvSpPr>
          <p:cNvPr id="4" name="Фото — заменить"/>
          <p:cNvSpPr/>
          <p:nvPr/>
        </p:nvSpPr>
        <p:spPr>
          <a:xfrm>
            <a:off x="508000" y="2794000"/>
            <a:ext cx="3623733" cy="2286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5" name="klever4-code-top" descr="img/klever4-code-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0732" y="2931160"/>
            <a:ext cx="1998269" cy="20116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08000" y="5232400"/>
            <a:ext cx="36237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C1C1C"/>
                </a:solidFill>
                <a:latin typeface="Inter Display Medium" pitchFamily="34" charset="0"/>
                <a:ea typeface="Inter Display Medium" pitchFamily="34" charset="-122"/>
                <a:cs typeface="Inter Display Medium" pitchFamily="34" charset="-120"/>
              </a:rPr>
              <a:t>Сборка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08000" y="5562600"/>
            <a:ext cx="3623733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6514E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Ученики собирают дрон из деталей и понимают, как он устроен.</a:t>
            </a:r>
            <a:endParaRPr lang="en-US" sz="1200" dirty="0"/>
          </a:p>
        </p:txBody>
      </p:sp>
      <p:sp>
        <p:nvSpPr>
          <p:cNvPr id="8" name="Фото — заменить"/>
          <p:cNvSpPr/>
          <p:nvPr/>
        </p:nvSpPr>
        <p:spPr>
          <a:xfrm>
            <a:off x="4284133" y="2794000"/>
            <a:ext cx="3623733" cy="2286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9" name="klever5-fpv-top" descr="img/klever5-fpv-t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8000" y="2931160"/>
            <a:ext cx="2376000" cy="201168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284133" y="5232400"/>
            <a:ext cx="36237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C1C1C"/>
                </a:solidFill>
                <a:latin typeface="Inter Display Medium" pitchFamily="34" charset="0"/>
                <a:ea typeface="Inter Display Medium" pitchFamily="34" charset="-122"/>
                <a:cs typeface="Inter Display Medium" pitchFamily="34" charset="-120"/>
              </a:rPr>
              <a:t>Пилотирование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4284133" y="5562600"/>
            <a:ext cx="3623733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6514E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Безопасные полёты в классе с защитой винтов и арены.</a:t>
            </a:r>
            <a:endParaRPr lang="en-US" sz="1200" dirty="0"/>
          </a:p>
        </p:txBody>
      </p:sp>
      <p:sp>
        <p:nvSpPr>
          <p:cNvPr id="12" name="Фото — заменить"/>
          <p:cNvSpPr/>
          <p:nvPr/>
        </p:nvSpPr>
        <p:spPr>
          <a:xfrm>
            <a:off x="8060267" y="2794000"/>
            <a:ext cx="3623733" cy="2286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3" name="klever4-swarm" descr="img/klever4-swar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7691" y="3659301"/>
            <a:ext cx="3188885" cy="55539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060267" y="5232400"/>
            <a:ext cx="36237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C1C1C"/>
                </a:solidFill>
                <a:latin typeface="Inter Display Medium" pitchFamily="34" charset="0"/>
                <a:ea typeface="Inter Display Medium" pitchFamily="34" charset="-122"/>
                <a:cs typeface="Inter Display Medium" pitchFamily="34" charset="-120"/>
              </a:rPr>
              <a:t>Программирование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8060267" y="5562600"/>
            <a:ext cx="3623733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6514E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Автономные миссии на Python: от взлёта до распознавания маркеров.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08000" y="6350000"/>
            <a:ext cx="12700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b"/>
          <a:lstStyle>
            <a:lvl1pPr>
              <a:defRPr sz="900">
                <a:solidFill>
                  <a:srgbClr val="706965"/>
                </a:solidFill>
                <a:latin typeface="Inter Display Medium"/>
                <a:ea typeface="Inter Display Medium"/>
                <a:cs typeface="Inter Display Medium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874000" y="596900"/>
            <a:ext cx="381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706965"/>
                </a:solidFill>
                <a:latin typeface="Inter Display Medium" pitchFamily="34" charset="0"/>
                <a:ea typeface="Inter Display Medium" pitchFamily="34" charset="-122"/>
                <a:cs typeface="Inter Display Medium" pitchFamily="34" charset="-120"/>
              </a:rPr>
              <a:t>Для кого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08000" y="1168400"/>
            <a:ext cx="11176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dirty="0">
                <a:solidFill>
                  <a:srgbClr val="1C1C1C"/>
                </a:solidFill>
                <a:latin typeface="Inter Display Light" pitchFamily="34" charset="0"/>
                <a:ea typeface="Inter Display Light" pitchFamily="34" charset="-122"/>
                <a:cs typeface="Inter Display Light" pitchFamily="34" charset="-120"/>
              </a:rPr>
              <a:t>Две аудитории — один продукт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508000" y="4064000"/>
            <a:ext cx="5435600" cy="0"/>
          </a:xfrm>
          <a:prstGeom prst="line">
            <a:avLst/>
          </a:prstGeom>
          <a:noFill/>
          <a:ln w="9525">
            <a:solidFill>
              <a:srgbClr val="1C1C1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8000" y="4267200"/>
            <a:ext cx="406400" cy="228600"/>
          </a:xfrm>
          <a:prstGeom prst="rect">
            <a:avLst/>
          </a:prstGeom>
          <a:ln w="9525">
            <a:solidFill>
              <a:srgbClr val="70696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8000" y="4267200"/>
            <a:ext cx="40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C1C1C"/>
                </a:solidFill>
                <a:latin typeface="Inter Display Medium" pitchFamily="34" charset="0"/>
                <a:ea typeface="Inter Display Medium" pitchFamily="34" charset="-122"/>
                <a:cs typeface="Inter Display Medium" pitchFamily="34" charset="-120"/>
              </a:rPr>
              <a:t>B2C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08000" y="4648200"/>
            <a:ext cx="54356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C1C1C"/>
                </a:solidFill>
                <a:latin typeface="Inter Display Light" pitchFamily="34" charset="0"/>
                <a:ea typeface="Inter Display Light" pitchFamily="34" charset="-122"/>
                <a:cs typeface="Inter Display Light" pitchFamily="34" charset="-120"/>
              </a:rPr>
              <a:t>Школьникам и родителям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508000" y="5219700"/>
            <a:ext cx="54356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6514E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Собрать свой дрон, научиться пилотировать и программировать, выступить на соревнованиях.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48400" y="4064000"/>
            <a:ext cx="5435600" cy="0"/>
          </a:xfrm>
          <a:prstGeom prst="line">
            <a:avLst/>
          </a:prstGeom>
          <a:noFill/>
          <a:ln w="9525">
            <a:solidFill>
              <a:srgbClr val="1C1C1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48400" y="4267200"/>
            <a:ext cx="406400" cy="228600"/>
          </a:xfrm>
          <a:prstGeom prst="rect">
            <a:avLst/>
          </a:prstGeom>
          <a:ln w="9525">
            <a:solidFill>
              <a:srgbClr val="70696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48400" y="4267200"/>
            <a:ext cx="40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C1C1C"/>
                </a:solidFill>
                <a:latin typeface="Inter Display Medium" pitchFamily="34" charset="0"/>
                <a:ea typeface="Inter Display Medium" pitchFamily="34" charset="-122"/>
                <a:cs typeface="Inter Display Medium" pitchFamily="34" charset="-120"/>
              </a:rPr>
              <a:t>B2G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6248400" y="4648200"/>
            <a:ext cx="54356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C1C1C"/>
                </a:solidFill>
                <a:latin typeface="Inter Display Light" pitchFamily="34" charset="0"/>
                <a:ea typeface="Inter Display Light" pitchFamily="34" charset="-122"/>
                <a:cs typeface="Inter Display Light" pitchFamily="34" charset="-120"/>
              </a:rPr>
              <a:t>Школам и технопаркам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6248400" y="5219700"/>
            <a:ext cx="54356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6514E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Готовый курс под ФГОС, оснащение кабинета и обучение педагогов под ключ.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08000" y="6350000"/>
            <a:ext cx="12700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b"/>
          <a:lstStyle>
            <a:lvl1pPr>
              <a:defRPr sz="900">
                <a:solidFill>
                  <a:srgbClr val="706965"/>
                </a:solidFill>
                <a:latin typeface="Inter Display Medium"/>
                <a:ea typeface="Inter Display Medium"/>
                <a:cs typeface="Inter Display Medium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874000" y="596900"/>
            <a:ext cx="381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706965"/>
                </a:solidFill>
                <a:latin typeface="Inter Display Medium" pitchFamily="34" charset="0"/>
                <a:ea typeface="Inter Display Medium" pitchFamily="34" charset="-122"/>
                <a:cs typeface="Inter Display Medium" pitchFamily="34" charset="-120"/>
              </a:rPr>
              <a:t>Внедрение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08000" y="1168400"/>
            <a:ext cx="9287933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dirty="0">
                <a:solidFill>
                  <a:srgbClr val="1C1C1C"/>
                </a:solidFill>
                <a:latin typeface="Inter Display Light" pitchFamily="34" charset="0"/>
                <a:ea typeface="Inter Display Light" pitchFamily="34" charset="-122"/>
                <a:cs typeface="Inter Display Light" pitchFamily="34" charset="-120"/>
              </a:rPr>
              <a:t>Запуск за месяц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508000" y="3302000"/>
            <a:ext cx="2679700" cy="2743200"/>
          </a:xfrm>
          <a:prstGeom prst="rect">
            <a:avLst/>
          </a:prstGeom>
          <a:solidFill>
            <a:srgbClr val="F1EEE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62000" y="3556000"/>
            <a:ext cx="127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0696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62000" y="3898900"/>
            <a:ext cx="21717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C1C1C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Аудит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62000" y="4381500"/>
            <a:ext cx="21717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6514E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Изучаем кабинет и программу школы.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62000" y="5588000"/>
            <a:ext cx="21717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 неделя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40100" y="3302000"/>
            <a:ext cx="2679700" cy="2743200"/>
          </a:xfrm>
          <a:prstGeom prst="rect">
            <a:avLst/>
          </a:prstGeom>
          <a:solidFill>
            <a:srgbClr val="F1EEE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594100" y="3556000"/>
            <a:ext cx="127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0696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594100" y="3898900"/>
            <a:ext cx="21717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C1C1C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Поставка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594100" y="4381500"/>
            <a:ext cx="21717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6514E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Комплекты, арена, зарядные станции.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594100" y="5588000"/>
            <a:ext cx="21717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2–4 недели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72200" y="3302000"/>
            <a:ext cx="2679700" cy="2743200"/>
          </a:xfrm>
          <a:prstGeom prst="rect">
            <a:avLst/>
          </a:prstGeom>
          <a:solidFill>
            <a:srgbClr val="F1EEE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26200" y="3556000"/>
            <a:ext cx="127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0696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26200" y="3898900"/>
            <a:ext cx="21717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C1C1C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Обучение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426200" y="4381500"/>
            <a:ext cx="21717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6514E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Курс для преподавателей онлайн или очно.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426200" y="5588000"/>
            <a:ext cx="21717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2 дня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04300" y="3302000"/>
            <a:ext cx="2679700" cy="2743200"/>
          </a:xfrm>
          <a:prstGeom prst="rect">
            <a:avLst/>
          </a:prstGeom>
          <a:solidFill>
            <a:srgbClr val="F1EEE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258300" y="3556000"/>
            <a:ext cx="127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0696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04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9258300" y="3898900"/>
            <a:ext cx="21717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C1C1C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Запуск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9258300" y="4381500"/>
            <a:ext cx="21717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6514E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Первый урок вместе с нашим методистом.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258300" y="5588000"/>
            <a:ext cx="21717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 урок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08000" y="6350000"/>
            <a:ext cx="12700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b"/>
          <a:lstStyle>
            <a:lvl1pPr>
              <a:defRPr sz="900">
                <a:solidFill>
                  <a:srgbClr val="706965"/>
                </a:solidFill>
                <a:latin typeface="Inter Display Medium"/>
                <a:ea typeface="Inter Display Medium"/>
                <a:cs typeface="Inter Display Medium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874000" y="596900"/>
            <a:ext cx="381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706965"/>
                </a:solidFill>
                <a:latin typeface="Inter Display Medium" pitchFamily="34" charset="0"/>
                <a:ea typeface="Inter Display Medium" pitchFamily="34" charset="-122"/>
                <a:cs typeface="Inter Display Medium" pitchFamily="34" charset="-120"/>
              </a:rPr>
              <a:t>Наборы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08000" y="1168400"/>
            <a:ext cx="11176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dirty="0">
                <a:solidFill>
                  <a:srgbClr val="1C1C1C"/>
                </a:solidFill>
                <a:latin typeface="Inter Display Light" pitchFamily="34" charset="0"/>
                <a:ea typeface="Inter Display Light" pitchFamily="34" charset="-122"/>
                <a:cs typeface="Inter Display Light" pitchFamily="34" charset="-120"/>
              </a:rPr>
              <a:t>Сравнение наборов</a:t>
            </a:r>
            <a:endParaRPr lang="en-US" sz="4800" dirty="0"/>
          </a:p>
        </p:txBody>
      </p:sp>
      <p:graphicFrame>
        <p:nvGraphicFramePr>
          <p:cNvPr id="13" name="Сравнение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8000" y="3175000"/>
          <a:ext cx="11176000" cy="914400"/>
        </p:xfrm>
        <a:graphic>
          <a:graphicData uri="http://schemas.openxmlformats.org/drawingml/2006/table">
            <a:tbl>
              <a:tblPr/>
              <a:tblGrid>
                <a:gridCol w="3799840"/>
                <a:gridCol w="2458720"/>
                <a:gridCol w="2458720"/>
                <a:gridCol w="2458720"/>
              </a:tblGrid>
              <a:tr h="482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C1C1C"/>
                          </a:solidFill>
                          <a:latin typeface="Inter Display Light" pitchFamily="34" charset="0"/>
                          <a:ea typeface="Inter Display Light" pitchFamily="34" charset="-122"/>
                          <a:cs typeface="Inter Display Light" pitchFamily="34" charset="-120"/>
                        </a:rPr>
                        <a:t>Старт</a:t>
                      </a:r>
                      <a:endParaRPr lang="en-US" sz="2000" dirty="0">
                        <a:latin typeface="Inter Display Light" charset="0"/>
                        <a:ea typeface="Inter Display Light" charset="0"/>
                        <a:cs typeface="Inter Display Light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C1C1C"/>
                          </a:solidFill>
                          <a:latin typeface="Inter Display Light" pitchFamily="34" charset="0"/>
                          <a:ea typeface="Inter Display Light" pitchFamily="34" charset="-122"/>
                          <a:cs typeface="Inter Display Light" pitchFamily="34" charset="-120"/>
                        </a:rPr>
                        <a:t>Класс</a:t>
                      </a:r>
                      <a:endParaRPr lang="en-US" sz="2000" dirty="0">
                        <a:latin typeface="Inter Display Light" charset="0"/>
                        <a:ea typeface="Inter Display Light" charset="0"/>
                        <a:cs typeface="Inter Display Light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C1C1C"/>
                          </a:solidFill>
                          <a:latin typeface="Inter Display Light" pitchFamily="34" charset="0"/>
                          <a:ea typeface="Inter Display Light" pitchFamily="34" charset="-122"/>
                          <a:cs typeface="Inter Display Light" pitchFamily="34" charset="-120"/>
                        </a:rPr>
                        <a:t>Центр</a:t>
                      </a:r>
                      <a:endParaRPr lang="en-US" sz="2000" dirty="0">
                        <a:latin typeface="Inter Display Light" charset="0"/>
                        <a:ea typeface="Inter Display Light" charset="0"/>
                        <a:cs typeface="Inter Display Light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6514E"/>
                          </a:solidFill>
                          <a:latin typeface="Inter Display" pitchFamily="34" charset="0"/>
                          <a:ea typeface="Inter Display" pitchFamily="34" charset="-122"/>
                          <a:cs typeface="Inter Display" pitchFamily="34" charset="-120"/>
                        </a:rPr>
                        <a:t>Дронов</a:t>
                      </a:r>
                      <a:endParaRPr lang="en-US" sz="1200" dirty="0">
                        <a:latin typeface="Inter Display" charset="0"/>
                        <a:ea typeface="Inter Display" charset="0"/>
                        <a:cs typeface="Inter Display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Geist Mono" pitchFamily="34" charset="0"/>
                          <a:ea typeface="Geist Mono" pitchFamily="34" charset="-122"/>
                          <a:cs typeface="Geist Mono" pitchFamily="34" charset="-120"/>
                        </a:rPr>
                        <a:t>1</a:t>
                      </a:r>
                      <a:endParaRPr lang="en-US" sz="1200" dirty="0">
                        <a:latin typeface="Geist Mono" charset="0"/>
                        <a:ea typeface="Geist Mono" charset="0"/>
                        <a:cs typeface="Geist Mono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Geist Mono" pitchFamily="34" charset="0"/>
                          <a:ea typeface="Geist Mono" pitchFamily="34" charset="-122"/>
                          <a:cs typeface="Geist Mono" pitchFamily="34" charset="-120"/>
                        </a:rPr>
                        <a:t>8</a:t>
                      </a:r>
                      <a:endParaRPr lang="en-US" sz="1200" dirty="0">
                        <a:latin typeface="Geist Mono" charset="0"/>
                        <a:ea typeface="Geist Mono" charset="0"/>
                        <a:cs typeface="Geist Mono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Geist Mono" pitchFamily="34" charset="0"/>
                          <a:ea typeface="Geist Mono" pitchFamily="34" charset="-122"/>
                          <a:cs typeface="Geist Mono" pitchFamily="34" charset="-120"/>
                        </a:rPr>
                        <a:t>16</a:t>
                      </a:r>
                      <a:endParaRPr lang="en-US" sz="1200" dirty="0">
                        <a:latin typeface="Geist Mono" charset="0"/>
                        <a:ea typeface="Geist Mono" charset="0"/>
                        <a:cs typeface="Geist Mono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6514E"/>
                          </a:solidFill>
                          <a:latin typeface="Inter Display" pitchFamily="34" charset="0"/>
                          <a:ea typeface="Inter Display" pitchFamily="34" charset="-122"/>
                          <a:cs typeface="Inter Display" pitchFamily="34" charset="-120"/>
                        </a:rPr>
                        <a:t>Полётная арена</a:t>
                      </a:r>
                      <a:endParaRPr lang="en-US" sz="1200" dirty="0">
                        <a:latin typeface="Inter Display" charset="0"/>
                        <a:ea typeface="Inter Display" charset="0"/>
                        <a:cs typeface="Inter Display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Geist Mono" pitchFamily="34" charset="0"/>
                          <a:ea typeface="Geist Mono" pitchFamily="34" charset="-122"/>
                          <a:cs typeface="Geist Mono" pitchFamily="34" charset="-120"/>
                        </a:rPr>
                        <a:t>—</a:t>
                      </a:r>
                      <a:endParaRPr lang="en-US" sz="1200" dirty="0">
                        <a:latin typeface="Geist Mono" charset="0"/>
                        <a:ea typeface="Geist Mono" charset="0"/>
                        <a:cs typeface="Geist Mono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Geist Mono" pitchFamily="34" charset="0"/>
                          <a:ea typeface="Geist Mono" pitchFamily="34" charset="-122"/>
                          <a:cs typeface="Geist Mono" pitchFamily="34" charset="-120"/>
                        </a:rPr>
                        <a:t>3×3 м</a:t>
                      </a:r>
                      <a:endParaRPr lang="en-US" sz="1200" dirty="0">
                        <a:latin typeface="Geist Mono" charset="0"/>
                        <a:ea typeface="Geist Mono" charset="0"/>
                        <a:cs typeface="Geist Mono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Geist Mono" pitchFamily="34" charset="0"/>
                          <a:ea typeface="Geist Mono" pitchFamily="34" charset="-122"/>
                          <a:cs typeface="Geist Mono" pitchFamily="34" charset="-120"/>
                        </a:rPr>
                        <a:t>4×4 м</a:t>
                      </a:r>
                      <a:endParaRPr lang="en-US" sz="1200" dirty="0">
                        <a:latin typeface="Geist Mono" charset="0"/>
                        <a:ea typeface="Geist Mono" charset="0"/>
                        <a:cs typeface="Geist Mono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6514E"/>
                          </a:solidFill>
                          <a:latin typeface="Inter Display" pitchFamily="34" charset="0"/>
                          <a:ea typeface="Inter Display" pitchFamily="34" charset="-122"/>
                          <a:cs typeface="Inter Display" pitchFamily="34" charset="-120"/>
                        </a:rPr>
                        <a:t>Программа</a:t>
                      </a:r>
                      <a:endParaRPr lang="en-US" sz="1200" dirty="0">
                        <a:latin typeface="Inter Display" charset="0"/>
                        <a:ea typeface="Inter Display" charset="0"/>
                        <a:cs typeface="Inter Display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Geist Mono" pitchFamily="34" charset="0"/>
                          <a:ea typeface="Geist Mono" pitchFamily="34" charset="-122"/>
                          <a:cs typeface="Geist Mono" pitchFamily="34" charset="-120"/>
                        </a:rPr>
                        <a:t>36 ч</a:t>
                      </a:r>
                      <a:endParaRPr lang="en-US" sz="1200" dirty="0">
                        <a:latin typeface="Geist Mono" charset="0"/>
                        <a:ea typeface="Geist Mono" charset="0"/>
                        <a:cs typeface="Geist Mono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Geist Mono" pitchFamily="34" charset="0"/>
                          <a:ea typeface="Geist Mono" pitchFamily="34" charset="-122"/>
                          <a:cs typeface="Geist Mono" pitchFamily="34" charset="-120"/>
                        </a:rPr>
                        <a:t>72 ч</a:t>
                      </a:r>
                      <a:endParaRPr lang="en-US" sz="1200" dirty="0">
                        <a:latin typeface="Geist Mono" charset="0"/>
                        <a:ea typeface="Geist Mono" charset="0"/>
                        <a:cs typeface="Geist Mono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Geist Mono" pitchFamily="34" charset="0"/>
                          <a:ea typeface="Geist Mono" pitchFamily="34" charset="-122"/>
                          <a:cs typeface="Geist Mono" pitchFamily="34" charset="-120"/>
                        </a:rPr>
                        <a:t>144 ч</a:t>
                      </a:r>
                      <a:endParaRPr lang="en-US" sz="1200" dirty="0">
                        <a:latin typeface="Geist Mono" charset="0"/>
                        <a:ea typeface="Geist Mono" charset="0"/>
                        <a:cs typeface="Geist Mono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6514E"/>
                          </a:solidFill>
                          <a:latin typeface="Inter Display" pitchFamily="34" charset="0"/>
                          <a:ea typeface="Inter Display" pitchFamily="34" charset="-122"/>
                          <a:cs typeface="Inter Display" pitchFamily="34" charset="-120"/>
                        </a:rPr>
                        <a:t>Обучение педагогов</a:t>
                      </a:r>
                      <a:endParaRPr lang="en-US" sz="1200" dirty="0">
                        <a:latin typeface="Inter Display" charset="0"/>
                        <a:ea typeface="Inter Display" charset="0"/>
                        <a:cs typeface="Inter Display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Geist Mono" pitchFamily="34" charset="0"/>
                          <a:ea typeface="Geist Mono" pitchFamily="34" charset="-122"/>
                          <a:cs typeface="Geist Mono" pitchFamily="34" charset="-120"/>
                        </a:rPr>
                        <a:t>Видеокурс</a:t>
                      </a:r>
                      <a:endParaRPr lang="en-US" sz="1200" dirty="0">
                        <a:latin typeface="Geist Mono" charset="0"/>
                        <a:ea typeface="Geist Mono" charset="0"/>
                        <a:cs typeface="Geist Mono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Geist Mono" pitchFamily="34" charset="0"/>
                          <a:ea typeface="Geist Mono" pitchFamily="34" charset="-122"/>
                          <a:cs typeface="Geist Mono" pitchFamily="34" charset="-120"/>
                        </a:rPr>
                        <a:t>Онлайн</a:t>
                      </a:r>
                      <a:endParaRPr lang="en-US" sz="1200" dirty="0">
                        <a:latin typeface="Geist Mono" charset="0"/>
                        <a:ea typeface="Geist Mono" charset="0"/>
                        <a:cs typeface="Geist Mono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Geist Mono" pitchFamily="34" charset="0"/>
                          <a:ea typeface="Geist Mono" pitchFamily="34" charset="-122"/>
                          <a:cs typeface="Geist Mono" pitchFamily="34" charset="-120"/>
                        </a:rPr>
                        <a:t>Очно</a:t>
                      </a:r>
                      <a:endParaRPr lang="en-US" sz="1200" dirty="0">
                        <a:latin typeface="Geist Mono" charset="0"/>
                        <a:ea typeface="Geist Mono" charset="0"/>
                        <a:cs typeface="Geist Mono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6514E"/>
                          </a:solidFill>
                          <a:latin typeface="Inter Display" pitchFamily="34" charset="0"/>
                          <a:ea typeface="Inter Display" pitchFamily="34" charset="-122"/>
                          <a:cs typeface="Inter Display" pitchFamily="34" charset="-120"/>
                        </a:rPr>
                        <a:t>Соревнования</a:t>
                      </a:r>
                      <a:endParaRPr lang="en-US" sz="1200" dirty="0">
                        <a:latin typeface="Inter Display" charset="0"/>
                        <a:ea typeface="Inter Display" charset="0"/>
                        <a:cs typeface="Inter Display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Geist Mono" pitchFamily="34" charset="0"/>
                          <a:ea typeface="Geist Mono" pitchFamily="34" charset="-122"/>
                          <a:cs typeface="Geist Mono" pitchFamily="34" charset="-120"/>
                        </a:rPr>
                        <a:t>—</a:t>
                      </a:r>
                      <a:endParaRPr lang="en-US" sz="1200" dirty="0">
                        <a:latin typeface="Geist Mono" charset="0"/>
                        <a:ea typeface="Geist Mono" charset="0"/>
                        <a:cs typeface="Geist Mono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Geist Mono" pitchFamily="34" charset="0"/>
                          <a:ea typeface="Geist Mono" pitchFamily="34" charset="-122"/>
                          <a:cs typeface="Geist Mono" pitchFamily="34" charset="-120"/>
                        </a:rPr>
                        <a:t>—</a:t>
                      </a:r>
                      <a:endParaRPr lang="en-US" sz="1200" dirty="0">
                        <a:latin typeface="Geist Mono" charset="0"/>
                        <a:ea typeface="Geist Mono" charset="0"/>
                        <a:cs typeface="Geist Mono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Geist Mono" pitchFamily="34" charset="0"/>
                          <a:ea typeface="Geist Mono" pitchFamily="34" charset="-122"/>
                          <a:cs typeface="Geist Mono" pitchFamily="34" charset="-120"/>
                        </a:rPr>
                        <a:t>Есть</a:t>
                      </a:r>
                      <a:endParaRPr lang="en-US" sz="1200" dirty="0">
                        <a:latin typeface="Geist Mono" charset="0"/>
                        <a:ea typeface="Geist Mono" charset="0"/>
                        <a:cs typeface="Geist Mono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08000" y="6350000"/>
            <a:ext cx="12700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b"/>
          <a:lstStyle>
            <a:lvl1pPr>
              <a:defRPr sz="900">
                <a:solidFill>
                  <a:srgbClr val="706965"/>
                </a:solidFill>
                <a:latin typeface="Inter Display Medium"/>
                <a:ea typeface="Inter Display Medium"/>
                <a:cs typeface="Inter Display Medium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874000" y="596900"/>
            <a:ext cx="381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706965"/>
                </a:solidFill>
                <a:latin typeface="Inter Display Medium" pitchFamily="34" charset="0"/>
                <a:ea typeface="Inter Display Medium" pitchFamily="34" charset="-122"/>
                <a:cs typeface="Inter Display Medium" pitchFamily="34" charset="-120"/>
              </a:rPr>
              <a:t>Стоимость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08000" y="1168400"/>
            <a:ext cx="11176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dirty="0">
                <a:solidFill>
                  <a:srgbClr val="1C1C1C"/>
                </a:solidFill>
                <a:latin typeface="Inter Display Light" pitchFamily="34" charset="0"/>
                <a:ea typeface="Inter Display Light" pitchFamily="34" charset="-122"/>
                <a:cs typeface="Inter Display Light" pitchFamily="34" charset="-120"/>
              </a:rPr>
              <a:t>Стоимость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508000" y="2489200"/>
            <a:ext cx="3623733" cy="3556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12800" y="2794000"/>
            <a:ext cx="3014133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C1C1C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Старт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3276600"/>
            <a:ext cx="3014133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dirty="0">
                <a:solidFill>
                  <a:srgbClr val="1C1C1C"/>
                </a:solidFill>
                <a:latin typeface="Inter Display Light" pitchFamily="34" charset="0"/>
                <a:ea typeface="Inter Display Light" pitchFamily="34" charset="-122"/>
                <a:cs typeface="Inter Display Light" pitchFamily="34" charset="-120"/>
              </a:rPr>
              <a:t>89 000 ₽ </a:t>
            </a:r>
            <a:pPr indent="0" marL="0">
              <a:buNone/>
            </a:pPr>
            <a:r>
              <a:rPr lang="en-US" sz="1200" dirty="0">
                <a:solidFill>
                  <a:srgbClr val="56514E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за комплект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12800" y="3937000"/>
            <a:ext cx="3014133" cy="0"/>
          </a:xfrm>
          <a:prstGeom prst="line">
            <a:avLst/>
          </a:prstGeom>
          <a:noFill/>
          <a:ln w="9525">
            <a:solidFill>
              <a:srgbClr val="D9D3D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12800" y="4114800"/>
            <a:ext cx="3014133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C1C1C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✓  1 дрон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C1C1C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✓  Программа 36 ч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C1C1C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✓  Видеокурс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84133" y="2489200"/>
            <a:ext cx="3623733" cy="355600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88933" y="2794000"/>
            <a:ext cx="3014133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1EEEC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Класс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269567" y="2832100"/>
            <a:ext cx="1333500" cy="228600"/>
          </a:xfrm>
          <a:prstGeom prst="rect">
            <a:avLst/>
          </a:prstGeom>
          <a:solidFill>
            <a:srgbClr val="FF411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69567" y="2832100"/>
            <a:ext cx="1333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C1C1C"/>
                </a:solidFill>
                <a:latin typeface="Inter Display Medium" pitchFamily="34" charset="0"/>
                <a:ea typeface="Inter Display Medium" pitchFamily="34" charset="-122"/>
                <a:cs typeface="Inter Display Medium" pitchFamily="34" charset="-120"/>
              </a:rPr>
              <a:t>Чаще выбирают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4588933" y="3276600"/>
            <a:ext cx="3014133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dirty="0">
                <a:solidFill>
                  <a:srgbClr val="F1EEEC"/>
                </a:solidFill>
                <a:latin typeface="Inter Display Light" pitchFamily="34" charset="0"/>
                <a:ea typeface="Inter Display Light" pitchFamily="34" charset="-122"/>
                <a:cs typeface="Inter Display Light" pitchFamily="34" charset="-120"/>
              </a:rPr>
              <a:t>680 000 ₽ </a:t>
            </a:r>
            <a:pPr indent="0" marL="0">
              <a:buNone/>
            </a:pPr>
            <a:r>
              <a:rPr lang="en-US" sz="1200" dirty="0">
                <a:solidFill>
                  <a:srgbClr val="A49C97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за набор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4588933" y="3937000"/>
            <a:ext cx="3014133" cy="0"/>
          </a:xfrm>
          <a:prstGeom prst="line">
            <a:avLst/>
          </a:prstGeom>
          <a:noFill/>
          <a:ln w="9525">
            <a:solidFill>
              <a:srgbClr val="3E3B3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88933" y="4114800"/>
            <a:ext cx="3014133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1EEEC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✓  8 дронов, арена 3×3 м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1EEEC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✓  Программа 72 ч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1EEEC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✓  Обучение онлайн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1EEEC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✓  Запчасти на год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60267" y="2489200"/>
            <a:ext cx="3623733" cy="3556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365067" y="2794000"/>
            <a:ext cx="3014133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C1C1C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Центр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8365067" y="3276600"/>
            <a:ext cx="3014133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dirty="0">
                <a:solidFill>
                  <a:srgbClr val="1C1C1C"/>
                </a:solidFill>
                <a:latin typeface="Inter Display Light" pitchFamily="34" charset="0"/>
                <a:ea typeface="Inter Display Light" pitchFamily="34" charset="-122"/>
                <a:cs typeface="Inter Display Light" pitchFamily="34" charset="-120"/>
              </a:rPr>
              <a:t>по запросу </a:t>
            </a:r>
            <a:pPr indent="0" marL="0">
              <a:buNone/>
            </a:pP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8365067" y="3937000"/>
            <a:ext cx="3014133" cy="0"/>
          </a:xfrm>
          <a:prstGeom prst="line">
            <a:avLst/>
          </a:prstGeom>
          <a:noFill/>
          <a:ln w="9525">
            <a:solidFill>
              <a:srgbClr val="D9D3D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365067" y="4114800"/>
            <a:ext cx="3014133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C1C1C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✓  16 дронов, арена 4×4 м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C1C1C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✓  Программа 144 ч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C1C1C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✓  Очное обучение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08000" y="6350000"/>
            <a:ext cx="12700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b"/>
          <a:lstStyle>
            <a:lvl1pPr>
              <a:defRPr sz="900">
                <a:solidFill>
                  <a:srgbClr val="706965"/>
                </a:solidFill>
                <a:latin typeface="Inter Display Medium"/>
                <a:ea typeface="Inter Display Medium"/>
                <a:cs typeface="Inter Display Medium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874000" y="596900"/>
            <a:ext cx="381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706965"/>
                </a:solidFill>
                <a:latin typeface="Inter Display Medium" pitchFamily="34" charset="0"/>
                <a:ea typeface="Inter Display Medium" pitchFamily="34" charset="-122"/>
                <a:cs typeface="Inter Display Medium" pitchFamily="34" charset="-120"/>
              </a:rPr>
              <a:t>Кейс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08000" y="1168400"/>
            <a:ext cx="456776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06965"/>
                </a:solidFill>
                <a:latin typeface="Inter Display Medium" pitchFamily="34" charset="0"/>
                <a:ea typeface="Inter Display Medium" pitchFamily="34" charset="-122"/>
                <a:cs typeface="Inter Display Medium" pitchFamily="34" charset="-120"/>
              </a:rPr>
              <a:t>Школа № 000, Казань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08000" y="1473200"/>
            <a:ext cx="4567767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4000" dirty="0">
                <a:solidFill>
                  <a:srgbClr val="1C1C1C"/>
                </a:solidFill>
                <a:latin typeface="Inter Display Light" pitchFamily="34" charset="0"/>
                <a:ea typeface="Inter Display Light" pitchFamily="34" charset="-122"/>
                <a:cs typeface="Inter Display Light" pitchFamily="34" charset="-120"/>
              </a:rPr>
              <a:t>Кабинет беспилотников за 6 недель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508000" y="4724400"/>
            <a:ext cx="4567767" cy="0"/>
          </a:xfrm>
          <a:prstGeom prst="line">
            <a:avLst/>
          </a:prstGeom>
          <a:noFill/>
          <a:ln w="9525">
            <a:solidFill>
              <a:srgbClr val="D9D3D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8000" y="4927600"/>
            <a:ext cx="190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dirty="0">
                <a:solidFill>
                  <a:srgbClr val="FF4119"/>
                </a:solidFill>
                <a:latin typeface="Inter Display Light" pitchFamily="34" charset="0"/>
                <a:ea typeface="Inter Display Light" pitchFamily="34" charset="-122"/>
                <a:cs typeface="Inter Display Light" pitchFamily="34" charset="-120"/>
              </a:rPr>
              <a:t>120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508000" y="5613400"/>
            <a:ext cx="2207683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6514E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учеников за первый год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868083" y="4927600"/>
            <a:ext cx="190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dirty="0">
                <a:solidFill>
                  <a:srgbClr val="1C1C1C"/>
                </a:solidFill>
                <a:latin typeface="Inter Display Light" pitchFamily="34" charset="0"/>
                <a:ea typeface="Inter Display Light" pitchFamily="34" charset="-122"/>
                <a:cs typeface="Inter Display Light" pitchFamily="34" charset="-120"/>
              </a:rPr>
              <a:t>3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2868083" y="5613400"/>
            <a:ext cx="2207683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6514E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призовых места на олимпиаде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2200" y="1168400"/>
            <a:ext cx="5511800" cy="0"/>
          </a:xfrm>
          <a:prstGeom prst="line">
            <a:avLst/>
          </a:prstGeom>
          <a:noFill/>
          <a:ln w="9525">
            <a:solidFill>
              <a:srgbClr val="D9D3D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72200" y="1320800"/>
            <a:ext cx="127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C1C1C"/>
                </a:solidFill>
                <a:latin typeface="Inter Display Medium" pitchFamily="34" charset="0"/>
                <a:ea typeface="Inter Display Medium" pitchFamily="34" charset="-122"/>
                <a:cs typeface="Inter Display Medium" pitchFamily="34" charset="-120"/>
              </a:rPr>
              <a:t>Задача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594600" y="1320800"/>
            <a:ext cx="4089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6514E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Запустить курс по беспилотникам в рамках нацпроекта без профильного педагога.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72200" y="1930400"/>
            <a:ext cx="5511800" cy="0"/>
          </a:xfrm>
          <a:prstGeom prst="line">
            <a:avLst/>
          </a:prstGeom>
          <a:noFill/>
          <a:ln w="9525">
            <a:solidFill>
              <a:srgbClr val="D9D3D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172200" y="2082800"/>
            <a:ext cx="127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C1C1C"/>
                </a:solidFill>
                <a:latin typeface="Inter Display Medium" pitchFamily="34" charset="0"/>
                <a:ea typeface="Inter Display Medium" pitchFamily="34" charset="-122"/>
                <a:cs typeface="Inter Display Medium" pitchFamily="34" charset="-120"/>
              </a:rPr>
              <a:t>Решение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594600" y="2082800"/>
            <a:ext cx="4089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6514E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Набор «Класс», арена 3×3 м, обучение двух учителей информатики онлайн.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72200" y="2692400"/>
            <a:ext cx="5511800" cy="0"/>
          </a:xfrm>
          <a:prstGeom prst="line">
            <a:avLst/>
          </a:prstGeom>
          <a:noFill/>
          <a:ln w="9525">
            <a:solidFill>
              <a:srgbClr val="D9D3D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172200" y="2844800"/>
            <a:ext cx="127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C1C1C"/>
                </a:solidFill>
                <a:latin typeface="Inter Display Medium" pitchFamily="34" charset="0"/>
                <a:ea typeface="Inter Display Medium" pitchFamily="34" charset="-122"/>
                <a:cs typeface="Inter Display Medium" pitchFamily="34" charset="-120"/>
              </a:rPr>
              <a:t>Результат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594600" y="2844800"/>
            <a:ext cx="4089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6514E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Курс в расписании 7–9 классов, команда школы — призёр регионального этапа.</a:t>
            </a:r>
            <a:endParaRPr lang="en-US" sz="1200" dirty="0"/>
          </a:p>
        </p:txBody>
      </p:sp>
      <p:sp>
        <p:nvSpPr>
          <p:cNvPr id="19" name="Фото — заменить"/>
          <p:cNvSpPr/>
          <p:nvPr/>
        </p:nvSpPr>
        <p:spPr>
          <a:xfrm>
            <a:off x="6172200" y="3556000"/>
            <a:ext cx="5511800" cy="2489200"/>
          </a:xfrm>
          <a:prstGeom prst="rect">
            <a:avLst/>
          </a:prstGeom>
          <a:solidFill>
            <a:srgbClr val="E6E2DF"/>
          </a:solidFill>
          <a:ln/>
        </p:spPr>
      </p:sp>
      <p:pic>
        <p:nvPicPr>
          <p:cNvPr id="20" name="klever4-swarm-dark" descr="img/klever4-swarm-dark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72200" y="3556000"/>
            <a:ext cx="5511800" cy="24892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08000" y="6350000"/>
            <a:ext cx="12700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b"/>
          <a:lstStyle>
            <a:lvl1pPr>
              <a:defRPr sz="900">
                <a:solidFill>
                  <a:srgbClr val="706965"/>
                </a:solidFill>
                <a:latin typeface="Inter Display Medium"/>
                <a:ea typeface="Inter Display Medium"/>
                <a:cs typeface="Inter Display Medium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874000" y="596900"/>
            <a:ext cx="381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706965"/>
                </a:solidFill>
                <a:latin typeface="Inter Display Medium" pitchFamily="34" charset="0"/>
                <a:ea typeface="Inter Display Medium" pitchFamily="34" charset="-122"/>
                <a:cs typeface="Inter Display Medium" pitchFamily="34" charset="-120"/>
              </a:rPr>
              <a:t>География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08000" y="1168400"/>
            <a:ext cx="3623733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1C1C1C"/>
                </a:solidFill>
                <a:latin typeface="Inter Display Light" pitchFamily="34" charset="0"/>
                <a:ea typeface="Inter Display Light" pitchFamily="34" charset="-122"/>
                <a:cs typeface="Inter Display Light" pitchFamily="34" charset="-120"/>
              </a:rPr>
              <a:t>Где учатся летать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08000" y="2667000"/>
            <a:ext cx="36237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6514E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Число школ с наборами Клевер по регионам, 2026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08000" y="5791200"/>
            <a:ext cx="362373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06965"/>
                </a:solidFill>
                <a:latin typeface="Inter Display Medium" pitchFamily="34" charset="0"/>
                <a:ea typeface="Inter Display Medium" pitchFamily="34" charset="-122"/>
                <a:cs typeface="Inter Display Medium" pitchFamily="34" charset="-120"/>
              </a:rPr>
              <a:t>Источник: данные отдела продаж</a:t>
            </a:r>
            <a:endParaRPr lang="en-US" sz="900" dirty="0"/>
          </a:p>
        </p:txBody>
      </p:sp>
      <p:graphicFrame>
        <p:nvGraphicFramePr>
          <p:cNvPr id="6" name="Диаграмма регионов" descr=""/>
          <p:cNvGraphicFramePr/>
          <p:nvPr/>
        </p:nvGraphicFramePr>
        <p:xfrm>
          <a:off x="5228167" y="1397000"/>
          <a:ext cx="6455833" cy="4445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08000" y="6350000"/>
            <a:ext cx="12700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b"/>
          <a:lstStyle>
            <a:lvl1pPr>
              <a:defRPr sz="900">
                <a:solidFill>
                  <a:srgbClr val="706965"/>
                </a:solidFill>
                <a:latin typeface="Inter Display Medium"/>
                <a:ea typeface="Inter Display Medium"/>
                <a:cs typeface="Inter Display Medium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874000" y="596900"/>
            <a:ext cx="381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706965"/>
                </a:solidFill>
                <a:latin typeface="Inter Display Medium" pitchFamily="34" charset="0"/>
                <a:ea typeface="Inter Display Medium" pitchFamily="34" charset="-122"/>
                <a:cs typeface="Inter Display Medium" pitchFamily="34" charset="-120"/>
              </a:rPr>
              <a:t>Отзывы</a:t>
            </a:r>
            <a:endParaRPr lang="en-US" sz="900" dirty="0"/>
          </a:p>
        </p:txBody>
      </p:sp>
      <p:sp>
        <p:nvSpPr>
          <p:cNvPr id="3" name="Портрет — заменить"/>
          <p:cNvSpPr/>
          <p:nvPr/>
        </p:nvSpPr>
        <p:spPr>
          <a:xfrm>
            <a:off x="508000" y="1168400"/>
            <a:ext cx="4567767" cy="4876800"/>
          </a:xfrm>
          <a:prstGeom prst="rect">
            <a:avLst/>
          </a:prstGeom>
          <a:solidFill>
            <a:srgbClr val="E6E2DF"/>
          </a:solidFill>
          <a:ln/>
        </p:spPr>
      </p:sp>
      <p:pic>
        <p:nvPicPr>
          <p:cNvPr id="4" name="Заглушка фото" descr="drone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6379" y="2241296"/>
            <a:ext cx="2731008" cy="273100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172200" y="1168400"/>
            <a:ext cx="55118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dirty="0">
                <a:solidFill>
                  <a:srgbClr val="1C1C1C"/>
                </a:solidFill>
                <a:latin typeface="Inter Display Light" pitchFamily="34" charset="0"/>
                <a:ea typeface="Inter Display Light" pitchFamily="34" charset="-122"/>
                <a:cs typeface="Inter Display Light" pitchFamily="34" charset="-120"/>
              </a:rPr>
              <a:t>«Через месяц ребята сами написали программу облёта школьного двора. Раньше я не верил, что это возможно без опыта в робототехнике.»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6172200" y="5461000"/>
            <a:ext cx="551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C1C1C"/>
                </a:solidFill>
                <a:latin typeface="Inter Display Medium" pitchFamily="34" charset="0"/>
                <a:ea typeface="Inter Display Medium" pitchFamily="34" charset="-122"/>
                <a:cs typeface="Inter Display Medium" pitchFamily="34" charset="-120"/>
              </a:rPr>
              <a:t>Алексей Смирнов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172200" y="5740400"/>
            <a:ext cx="551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6514E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Учитель информатики, школа № 000, Казань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08000" y="6350000"/>
            <a:ext cx="12700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b"/>
          <a:lstStyle>
            <a:lvl1pPr>
              <a:defRPr sz="900">
                <a:solidFill>
                  <a:srgbClr val="706965"/>
                </a:solidFill>
                <a:latin typeface="Inter Display Medium"/>
                <a:ea typeface="Inter Display Medium"/>
                <a:cs typeface="Inter Display Medium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874000" y="596900"/>
            <a:ext cx="381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706965"/>
                </a:solidFill>
                <a:latin typeface="Inter Display Medium" pitchFamily="34" charset="0"/>
                <a:ea typeface="Inter Display Medium" pitchFamily="34" charset="-122"/>
                <a:cs typeface="Inter Display Medium" pitchFamily="34" charset="-120"/>
              </a:rPr>
              <a:t>Команда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08000" y="1168400"/>
            <a:ext cx="11176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dirty="0">
                <a:solidFill>
                  <a:srgbClr val="1C1C1C"/>
                </a:solidFill>
                <a:latin typeface="Inter Display Light" pitchFamily="34" charset="0"/>
                <a:ea typeface="Inter Display Light" pitchFamily="34" charset="-122"/>
                <a:cs typeface="Inter Display Light" pitchFamily="34" charset="-120"/>
              </a:rPr>
              <a:t>Кто будет с вами работать</a:t>
            </a:r>
            <a:endParaRPr lang="en-US" sz="4800" dirty="0"/>
          </a:p>
        </p:txBody>
      </p:sp>
      <p:sp>
        <p:nvSpPr>
          <p:cNvPr id="4" name="Портрет 4:5 — заменить"/>
          <p:cNvSpPr/>
          <p:nvPr/>
        </p:nvSpPr>
        <p:spPr>
          <a:xfrm>
            <a:off x="508000" y="2362200"/>
            <a:ext cx="2679700" cy="2984500"/>
          </a:xfrm>
          <a:prstGeom prst="rect">
            <a:avLst/>
          </a:prstGeom>
          <a:solidFill>
            <a:srgbClr val="BFB7B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08000" y="5499100"/>
            <a:ext cx="2679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C1C1C"/>
                </a:solidFill>
                <a:latin typeface="Inter Display Medium" pitchFamily="34" charset="0"/>
                <a:ea typeface="Inter Display Medium" pitchFamily="34" charset="-122"/>
                <a:cs typeface="Inter Display Medium" pitchFamily="34" charset="-120"/>
              </a:rPr>
              <a:t>Алексей Смирнов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08000" y="5778500"/>
            <a:ext cx="2679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6514E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Руководитель направления</a:t>
            </a:r>
            <a:endParaRPr lang="en-US" sz="1100" dirty="0"/>
          </a:p>
        </p:txBody>
      </p:sp>
      <p:sp>
        <p:nvSpPr>
          <p:cNvPr id="7" name="Портрет 4:5 — заменить"/>
          <p:cNvSpPr/>
          <p:nvPr/>
        </p:nvSpPr>
        <p:spPr>
          <a:xfrm>
            <a:off x="3340100" y="2362200"/>
            <a:ext cx="2679700" cy="2984500"/>
          </a:xfrm>
          <a:prstGeom prst="rect">
            <a:avLst/>
          </a:prstGeom>
          <a:solidFill>
            <a:srgbClr val="BFB7B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340100" y="5499100"/>
            <a:ext cx="2679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C1C1C"/>
                </a:solidFill>
                <a:latin typeface="Inter Display Medium" pitchFamily="34" charset="0"/>
                <a:ea typeface="Inter Display Medium" pitchFamily="34" charset="-122"/>
                <a:cs typeface="Inter Display Medium" pitchFamily="34" charset="-120"/>
              </a:rPr>
              <a:t>Елена Козлова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340100" y="5778500"/>
            <a:ext cx="2679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6514E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Методист</a:t>
            </a:r>
            <a:endParaRPr lang="en-US" sz="1100" dirty="0"/>
          </a:p>
        </p:txBody>
      </p:sp>
      <p:sp>
        <p:nvSpPr>
          <p:cNvPr id="10" name="Портрет 4:5 — заменить"/>
          <p:cNvSpPr/>
          <p:nvPr/>
        </p:nvSpPr>
        <p:spPr>
          <a:xfrm>
            <a:off x="6172200" y="2362200"/>
            <a:ext cx="2679700" cy="2984500"/>
          </a:xfrm>
          <a:prstGeom prst="rect">
            <a:avLst/>
          </a:prstGeom>
          <a:solidFill>
            <a:srgbClr val="BFB7B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172200" y="5499100"/>
            <a:ext cx="2679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C1C1C"/>
                </a:solidFill>
                <a:latin typeface="Inter Display Medium" pitchFamily="34" charset="0"/>
                <a:ea typeface="Inter Display Medium" pitchFamily="34" charset="-122"/>
                <a:cs typeface="Inter Display Medium" pitchFamily="34" charset="-120"/>
              </a:rPr>
              <a:t>Дмитрий Морозов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172200" y="5778500"/>
            <a:ext cx="2679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6514E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Инженер поддержки</a:t>
            </a:r>
            <a:endParaRPr lang="en-US" sz="1100" dirty="0"/>
          </a:p>
        </p:txBody>
      </p:sp>
      <p:sp>
        <p:nvSpPr>
          <p:cNvPr id="13" name="Портрет 4:5 — заменить"/>
          <p:cNvSpPr/>
          <p:nvPr/>
        </p:nvSpPr>
        <p:spPr>
          <a:xfrm>
            <a:off x="9004300" y="2362200"/>
            <a:ext cx="2679700" cy="2984500"/>
          </a:xfrm>
          <a:prstGeom prst="rect">
            <a:avLst/>
          </a:prstGeom>
          <a:solidFill>
            <a:srgbClr val="BFB7B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004300" y="5499100"/>
            <a:ext cx="2679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C1C1C"/>
                </a:solidFill>
                <a:latin typeface="Inter Display Medium" pitchFamily="34" charset="0"/>
                <a:ea typeface="Inter Display Medium" pitchFamily="34" charset="-122"/>
                <a:cs typeface="Inter Display Medium" pitchFamily="34" charset="-120"/>
              </a:rPr>
              <a:t>Ольга Петрова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9004300" y="5778500"/>
            <a:ext cx="2679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6514E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Менеджер по работе со школами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08000" y="6350000"/>
            <a:ext cx="12700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b"/>
          <a:lstStyle>
            <a:lvl1pPr>
              <a:defRPr sz="900">
                <a:solidFill>
                  <a:srgbClr val="706965"/>
                </a:solidFill>
                <a:latin typeface="Inter Display Medium"/>
                <a:ea typeface="Inter Display Medium"/>
                <a:cs typeface="Inter Display Medium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874000" y="596900"/>
            <a:ext cx="381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706965"/>
                </a:solidFill>
                <a:latin typeface="Inter Display Medium" pitchFamily="34" charset="0"/>
                <a:ea typeface="Inter Display Medium" pitchFamily="34" charset="-122"/>
                <a:cs typeface="Inter Display Medium" pitchFamily="34" charset="-120"/>
              </a:rPr>
              <a:t>Фото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08000" y="1168400"/>
            <a:ext cx="11176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dirty="0">
                <a:solidFill>
                  <a:srgbClr val="1C1C1C"/>
                </a:solidFill>
                <a:latin typeface="Inter Display Light" pitchFamily="34" charset="0"/>
                <a:ea typeface="Inter Display Light" pitchFamily="34" charset="-122"/>
                <a:cs typeface="Inter Display Light" pitchFamily="34" charset="-120"/>
              </a:rPr>
              <a:t>Как это выглядит в классе</a:t>
            </a:r>
            <a:endParaRPr lang="en-US" sz="4800" dirty="0"/>
          </a:p>
        </p:txBody>
      </p:sp>
      <p:sp>
        <p:nvSpPr>
          <p:cNvPr id="4" name="Фото — заменить"/>
          <p:cNvSpPr/>
          <p:nvPr/>
        </p:nvSpPr>
        <p:spPr>
          <a:xfrm>
            <a:off x="508000" y="2171700"/>
            <a:ext cx="5435600" cy="3873500"/>
          </a:xfrm>
          <a:prstGeom prst="rect">
            <a:avLst/>
          </a:prstGeom>
          <a:solidFill>
            <a:srgbClr val="E6E2DF"/>
          </a:solidFill>
          <a:ln/>
        </p:spPr>
      </p:sp>
      <p:pic>
        <p:nvPicPr>
          <p:cNvPr id="5" name="klever4-dark" descr="img/klever4-dark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8000" y="2171700"/>
            <a:ext cx="5435600" cy="3873500"/>
          </a:xfrm>
          <a:prstGeom prst="rect">
            <a:avLst/>
          </a:prstGeom>
        </p:spPr>
      </p:pic>
      <p:sp>
        <p:nvSpPr>
          <p:cNvPr id="6" name="Фото — заменить"/>
          <p:cNvSpPr/>
          <p:nvPr/>
        </p:nvSpPr>
        <p:spPr>
          <a:xfrm>
            <a:off x="6096000" y="2171700"/>
            <a:ext cx="2717800" cy="186055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7" name="klever5-code-dark" descr="img/klever5-code-dark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096000" y="2171700"/>
            <a:ext cx="2717800" cy="1860550"/>
          </a:xfrm>
          <a:prstGeom prst="rect">
            <a:avLst/>
          </a:prstGeom>
        </p:spPr>
      </p:pic>
      <p:sp>
        <p:nvSpPr>
          <p:cNvPr id="8" name="Фото — заменить"/>
          <p:cNvSpPr/>
          <p:nvPr/>
        </p:nvSpPr>
        <p:spPr>
          <a:xfrm>
            <a:off x="8966200" y="2171700"/>
            <a:ext cx="2717800" cy="186055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9" name="klever5-fpv-dark" descr="img/klever5-fpv-dark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966200" y="2171700"/>
            <a:ext cx="2717800" cy="1860550"/>
          </a:xfrm>
          <a:prstGeom prst="rect">
            <a:avLst/>
          </a:prstGeom>
        </p:spPr>
      </p:pic>
      <p:sp>
        <p:nvSpPr>
          <p:cNvPr id="10" name="Фото — заменить"/>
          <p:cNvSpPr/>
          <p:nvPr/>
        </p:nvSpPr>
        <p:spPr>
          <a:xfrm>
            <a:off x="6096000" y="4184650"/>
            <a:ext cx="5588000" cy="1860550"/>
          </a:xfrm>
          <a:prstGeom prst="rect">
            <a:avLst/>
          </a:prstGeom>
          <a:solidFill>
            <a:srgbClr val="BFB7B2"/>
          </a:solidFill>
          <a:ln/>
        </p:spPr>
      </p:sp>
      <p:pic>
        <p:nvPicPr>
          <p:cNvPr id="11" name="sport-dark-1" descr="img/sport-dark-1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096000" y="4184650"/>
            <a:ext cx="5588000" cy="186055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08000" y="6350000"/>
            <a:ext cx="12700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b"/>
          <a:lstStyle>
            <a:lvl1pPr>
              <a:defRPr sz="900">
                <a:solidFill>
                  <a:srgbClr val="706965"/>
                </a:solidFill>
                <a:latin typeface="Inter Display Medium"/>
                <a:ea typeface="Inter Display Medium"/>
                <a:cs typeface="Inter Display Medium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Фото в вылет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E3B39"/>
          </a:solidFill>
          <a:ln/>
        </p:spPr>
      </p:sp>
      <p:pic>
        <p:nvPicPr>
          <p:cNvPr id="3" name="klever5-dev-dark" descr="img/klever5-dev-dark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1" descr="ru-horizontal-white-oran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546100"/>
            <a:ext cx="793496" cy="27940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08000" y="4826000"/>
            <a:ext cx="6985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dirty="0">
                <a:solidFill>
                  <a:srgbClr val="F1EEEC"/>
                </a:solidFill>
                <a:latin typeface="Inter Display Light" pitchFamily="34" charset="0"/>
                <a:ea typeface="Inter Display Light" pitchFamily="34" charset="-122"/>
                <a:cs typeface="Inter Display Light" pitchFamily="34" charset="-120"/>
              </a:rPr>
              <a:t>Урок, на который приходят раньше звонка</a:t>
            </a:r>
            <a:endParaRPr lang="en-US" sz="4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08000" y="6350000"/>
            <a:ext cx="12700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b"/>
          <a:lstStyle>
            <a:lvl1pPr>
              <a:defRPr sz="900">
                <a:solidFill>
                  <a:srgbClr val="A49C97"/>
                </a:solidFill>
                <a:latin typeface="Inter Display Medium"/>
                <a:ea typeface="Inter Display Medium"/>
                <a:cs typeface="Inter Display Medium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874000" y="596900"/>
            <a:ext cx="381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49C97"/>
                </a:solidFill>
                <a:latin typeface="Inter Display Medium" pitchFamily="34" charset="0"/>
                <a:ea typeface="Inter Display Medium" pitchFamily="34" charset="-122"/>
                <a:cs typeface="Inter Display Medium" pitchFamily="34" charset="-120"/>
              </a:rPr>
              <a:t>Контакты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08000" y="1168400"/>
            <a:ext cx="7399867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8000" spc="-200" kern="0" dirty="0">
                <a:solidFill>
                  <a:srgbClr val="F1EEEC"/>
                </a:solidFill>
                <a:latin typeface="Inter Display Light" pitchFamily="34" charset="0"/>
                <a:ea typeface="Inter Display Light" pitchFamily="34" charset="-122"/>
                <a:cs typeface="Inter Display Light" pitchFamily="34" charset="-120"/>
              </a:rPr>
              <a:t>Давайте обсудим ваш класс</a:t>
            </a:r>
            <a:endParaRPr lang="en-US" sz="8000" dirty="0"/>
          </a:p>
        </p:txBody>
      </p:sp>
      <p:sp>
        <p:nvSpPr>
          <p:cNvPr id="4" name="Shape 2"/>
          <p:cNvSpPr/>
          <p:nvPr/>
        </p:nvSpPr>
        <p:spPr>
          <a:xfrm>
            <a:off x="508000" y="5334000"/>
            <a:ext cx="3623733" cy="0"/>
          </a:xfrm>
          <a:prstGeom prst="line">
            <a:avLst/>
          </a:prstGeom>
          <a:noFill/>
          <a:ln w="9525">
            <a:solidFill>
              <a:srgbClr val="3E3B3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8000" y="5486400"/>
            <a:ext cx="3623733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49C97"/>
                </a:solidFill>
                <a:latin typeface="Inter Display Medium" pitchFamily="34" charset="0"/>
                <a:ea typeface="Inter Display Medium" pitchFamily="34" charset="-122"/>
                <a:cs typeface="Inter Display Medium" pitchFamily="34" charset="-120"/>
              </a:rPr>
              <a:t>Отдел образования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08000" y="5702300"/>
            <a:ext cx="3623733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1EEEC"/>
                </a:solidFill>
                <a:latin typeface="Inter Display Medium" pitchFamily="34" charset="0"/>
                <a:ea typeface="Inter Display Medium" pitchFamily="34" charset="-122"/>
                <a:cs typeface="Inter Display Medium" pitchFamily="34" charset="-120"/>
              </a:rPr>
              <a:t>info@klevercoex.ru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284133" y="5334000"/>
            <a:ext cx="3623733" cy="0"/>
          </a:xfrm>
          <a:prstGeom prst="line">
            <a:avLst/>
          </a:prstGeom>
          <a:noFill/>
          <a:ln w="9525">
            <a:solidFill>
              <a:srgbClr val="3E3B3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284133" y="5486400"/>
            <a:ext cx="3623733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49C97"/>
                </a:solidFill>
                <a:latin typeface="Inter Display Medium" pitchFamily="34" charset="0"/>
                <a:ea typeface="Inter Display Medium" pitchFamily="34" charset="-122"/>
                <a:cs typeface="Inter Display Medium" pitchFamily="34" charset="-120"/>
              </a:rPr>
              <a:t>Телефон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4284133" y="5702300"/>
            <a:ext cx="3623733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1EEEC"/>
                </a:solidFill>
                <a:latin typeface="Inter Display Medium" pitchFamily="34" charset="0"/>
                <a:ea typeface="Inter Display Medium" pitchFamily="34" charset="-122"/>
                <a:cs typeface="Inter Display Medium" pitchFamily="34" charset="-120"/>
              </a:rPr>
              <a:t>+7 (495) 225-22-52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060267" y="5334000"/>
            <a:ext cx="3623733" cy="0"/>
          </a:xfrm>
          <a:prstGeom prst="line">
            <a:avLst/>
          </a:prstGeom>
          <a:noFill/>
          <a:ln w="9525">
            <a:solidFill>
              <a:srgbClr val="3E3B3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60267" y="5486400"/>
            <a:ext cx="3623733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49C97"/>
                </a:solidFill>
                <a:latin typeface="Inter Display Medium" pitchFamily="34" charset="0"/>
                <a:ea typeface="Inter Display Medium" pitchFamily="34" charset="-122"/>
                <a:cs typeface="Inter Display Medium" pitchFamily="34" charset="-120"/>
              </a:rPr>
              <a:t>Материалы для партнёров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8060267" y="5702300"/>
            <a:ext cx="3623733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1EEEC"/>
                </a:solidFill>
                <a:latin typeface="Inter Display Medium" pitchFamily="34" charset="0"/>
                <a:ea typeface="Inter Display Medium" pitchFamily="34" charset="-122"/>
                <a:cs typeface="Inter Display Medium" pitchFamily="34" charset="-120"/>
              </a:rPr>
              <a:t>klevercoex.ru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08000" y="6350000"/>
            <a:ext cx="12700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b"/>
          <a:lstStyle>
            <a:lvl1pPr>
              <a:defRPr sz="900">
                <a:solidFill>
                  <a:srgbClr val="A49C97"/>
                </a:solidFill>
                <a:latin typeface="Inter Display Medium"/>
                <a:ea typeface="Inter Display Medium"/>
                <a:cs typeface="Inter Display Medium"/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8000" y="4445000"/>
            <a:ext cx="7620000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0" dirty="0">
                <a:solidFill>
                  <a:srgbClr val="FFFFFF"/>
                </a:solidFill>
                <a:latin typeface="Inter Display Light" pitchFamily="34" charset="0"/>
                <a:ea typeface="Inter Display Light" pitchFamily="34" charset="-122"/>
                <a:cs typeface="Inter Display Light" pitchFamily="34" charset="-120"/>
              </a:rPr>
              <a:t>Спасибо</a:t>
            </a:r>
            <a:endParaRPr lang="en-US" sz="10000" dirty="0"/>
          </a:p>
        </p:txBody>
      </p:sp>
      <p:sp>
        <p:nvSpPr>
          <p:cNvPr id="3" name="Text 1"/>
          <p:cNvSpPr txBox="1"/>
          <p:nvPr/>
        </p:nvSpPr>
        <p:spPr>
          <a:xfrm>
            <a:off x="8509000" y="5334000"/>
            <a:ext cx="317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600" dirty="0">
                <a:solidFill>
                  <a:srgbClr val="1C1C1C"/>
                </a:solidFill>
                <a:latin typeface="Inter Display Medium" pitchFamily="34" charset="0"/>
                <a:ea typeface="Inter Display Medium" pitchFamily="34" charset="-122"/>
                <a:cs typeface="Inter Display Medium" pitchFamily="34" charset="-120"/>
              </a:rPr>
              <a:t>info@klevercoex.ru</a:t>
            </a:r>
            <a:endParaRPr lang="en-US" sz="1600" dirty="0"/>
          </a:p>
          <a:p>
            <a:pPr algn="r" indent="0" marL="0">
              <a:buNone/>
            </a:pPr>
            <a:r>
              <a:rPr lang="en-US" sz="1600" dirty="0">
                <a:solidFill>
                  <a:srgbClr val="1C1C1C"/>
                </a:solidFill>
                <a:latin typeface="Inter Display Medium" pitchFamily="34" charset="0"/>
                <a:ea typeface="Inter Display Medium" pitchFamily="34" charset="-122"/>
                <a:cs typeface="Inter Display Medium" pitchFamily="34" charset="-120"/>
              </a:rPr>
              <a:t>+7 (495) 225-22-52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08000" y="6350000"/>
            <a:ext cx="12700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b"/>
          <a:lstStyle>
            <a:lvl1pPr>
              <a:defRPr sz="900">
                <a:solidFill>
                  <a:srgbClr val="1C1C1C"/>
                </a:solidFill>
                <a:latin typeface="Inter Display Medium"/>
                <a:ea typeface="Inter Display Medium"/>
                <a:cs typeface="Inter Display Medium"/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lever COEX">
  <a:themeElements>
    <a:clrScheme name="Klever COEX">
      <a:dk1>
        <a:srgbClr val="1C1C1C"/>
      </a:dk1>
      <a:lt1>
        <a:srgbClr val="FFFFFF"/>
      </a:lt1>
      <a:dk2>
        <a:srgbClr val="56514E"/>
      </a:dk2>
      <a:lt2>
        <a:srgbClr val="F1EEEC"/>
      </a:lt2>
      <a:accent1>
        <a:srgbClr val="FF4119"/>
      </a:accent1>
      <a:accent2>
        <a:srgbClr val="BFB7B2"/>
      </a:accent2>
      <a:accent3>
        <a:srgbClr val="706965"/>
      </a:accent3>
      <a:accent4>
        <a:srgbClr val="A49C97"/>
      </a:accent4>
      <a:accent5>
        <a:srgbClr val="D9D3D0"/>
      </a:accent5>
      <a:accent6>
        <a:srgbClr val="3E3B39"/>
      </a:accent6>
      <a:hlink>
        <a:srgbClr val="1C1C1C"/>
      </a:hlink>
      <a:folHlink>
        <a:srgbClr val="56514E"/>
      </a:folHlink>
    </a:clrScheme>
    <a:fontScheme name="Klever COEX">
      <a:majorFont>
        <a:latin typeface="Inter Display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 Display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Клевер COEX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Клевер COEX — полный шаблон презентации</dc:title>
  <dc:subject>PptxGenJS Presentation</dc:subject>
  <dc:creator>PptxGenJS</dc:creator>
  <cp:lastModifiedBy>PptxGenJS</cp:lastModifiedBy>
  <cp:revision>1</cp:revision>
  <dcterms:created xsi:type="dcterms:W3CDTF">2026-10-02T04:56:26Z</dcterms:created>
  <dcterms:modified xsi:type="dcterms:W3CDTF">2026-10-02T04:56:26Z</dcterms:modified>
</cp:coreProperties>
</file>